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914400"/>
            <a:ext cx="182880" cy="5029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463040"/>
            <a:ext cx="8961120" cy="3931920"/>
          </a:xfrm>
          <a:prstGeom prst="rect">
            <a:avLst/>
          </a:prstGeom>
          <a:noFill/>
        </p:spPr>
        <p:txBody>
          <a:bodyPr wrap="square">
            <a:spAutoFit/>
          </a:bodyPr>
          <a:lstStyle/>
          <a:p>
            <a:pPr>
              <a:defRPr sz="1100" b="1">
                <a:solidFill>
                  <a:srgbClr val="2563EB"/>
                </a:solidFill>
                <a:latin typeface="Segoe UI"/>
              </a:defRPr>
            </a:pPr>
            <a:r>
              <a:t>CYBERSECURITY EXECUTIVE SERIES  •  DECK 01 / 05</a:t>
            </a:r>
          </a:p>
          <a:p>
            <a:pPr>
              <a:spcBef>
                <a:spcPts val="800"/>
              </a:spcBef>
              <a:defRPr sz="2800" b="1">
                <a:solidFill>
                  <a:srgbClr val="0F172A"/>
                </a:solidFill>
                <a:latin typeface="Segoe UI"/>
              </a:defRPr>
            </a:pPr>
            <a:r>
              <a:t>Executive Overview, Leadership Team &amp; SIEM Philosophy</a:t>
            </a:r>
          </a:p>
          <a:p>
            <a:pPr>
              <a:spcBef>
                <a:spcPts val="1200"/>
              </a:spcBef>
              <a:defRPr sz="1300">
                <a:solidFill>
                  <a:srgbClr val="64748B"/>
                </a:solidFill>
                <a:latin typeface="Segoe UI"/>
              </a:defRPr>
            </a:pPr>
            <a:r>
              <a:t>Prinsip Strategis Pusat Komando Operasi Keamanan, Profil Tim JadiBegini, &amp; Nilai Investasi Cyber Defense</a:t>
            </a:r>
          </a:p>
          <a:p>
            <a:pPr>
              <a:spcBef>
                <a:spcPts val="2800"/>
              </a:spcBef>
              <a:defRPr sz="1000">
                <a:solidFill>
                  <a:srgbClr val="1E293B"/>
                </a:solidFill>
                <a:latin typeface="Segoe UI"/>
              </a:defRPr>
            </a:pPr>
            <a:r>
              <a:t>Target Audience: Chief Information Security Officer (CISO), Dewan Direksi, &amp; Stakeholder Bisnis  |  Framework: ISO 27001, NIST SP 800-92, OCSF Governance</a:t>
            </a:r>
            <a:br/>
            <a:r>
              <a:t>Engineering Team: JadiBegini (Bagus Hanindyo Kusuma, Anand Ferdiansyah, Fitus Yayan Ofnaio Zebua)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291840" cy="29260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E3A8A"/>
                </a:solidFill>
                <a:latin typeface="Segoe UI"/>
              </a:defRPr>
            </a:pPr>
            <a:r>
              <a:t>STRATEGI &amp; ORGANISASI</a:t>
            </a:r>
          </a:p>
        </p:txBody>
      </p:sp>
      <p:sp>
        <p:nvSpPr>
          <p:cNvPr id="5" name="TextBox 4"/>
          <p:cNvSpPr txBox="1"/>
          <p:nvPr/>
        </p:nvSpPr>
        <p:spPr>
          <a:xfrm>
            <a:off x="731520" y="621792"/>
            <a:ext cx="10698480" cy="731520"/>
          </a:xfrm>
          <a:prstGeom prst="rect">
            <a:avLst/>
          </a:prstGeom>
          <a:noFill/>
        </p:spPr>
        <p:txBody>
          <a:bodyPr wrap="square">
            <a:spAutoFit/>
          </a:bodyPr>
          <a:lstStyle/>
          <a:p>
            <a:pPr>
              <a:defRPr sz="2000" b="1">
                <a:solidFill>
                  <a:srgbClr val="0F172A"/>
                </a:solidFill>
                <a:latin typeface="Segoe UI"/>
              </a:defRPr>
            </a:pPr>
            <a:r>
              <a:t>Profil Tim Pengembang JadiBegini &amp; Filosofi Fundamental SIEM</a:t>
            </a:r>
          </a:p>
          <a:p>
            <a:pPr>
              <a:spcBef>
                <a:spcPts val="300"/>
              </a:spcBef>
              <a:defRPr sz="1050">
                <a:solidFill>
                  <a:srgbClr val="64748B"/>
                </a:solidFill>
                <a:latin typeface="Segoe UI"/>
              </a:defRPr>
            </a:pPr>
            <a:r>
              <a:t>Keahlian lintas disiplin pengembang dan pemahaman esensi pusat komando keamanan siber.</a:t>
            </a:r>
          </a:p>
        </p:txBody>
      </p:sp>
      <p:sp>
        <p:nvSpPr>
          <p:cNvPr id="6" name="Rectangle 5"/>
          <p:cNvSpPr/>
          <p:nvPr/>
        </p:nvSpPr>
        <p:spPr>
          <a:xfrm>
            <a:off x="731520" y="63550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00800"/>
            <a:ext cx="10728655" cy="320040"/>
          </a:xfrm>
          <a:prstGeom prst="rect">
            <a:avLst/>
          </a:prstGeom>
          <a:noFill/>
        </p:spPr>
        <p:txBody>
          <a:bodyPr wrap="none">
            <a:spAutoFit/>
          </a:bodyPr>
          <a:lstStyle/>
          <a:p>
            <a:pPr>
              <a:defRPr sz="850">
                <a:solidFill>
                  <a:srgbClr val="64748B"/>
                </a:solidFill>
                <a:latin typeface="Segoe UI"/>
              </a:defRPr>
            </a:pPr>
            <a:r>
              <a:t>Enterprise Cyber Defense &amp; SIEM Governance  |  Corporate Strategic Operations</a:t>
            </a:r>
          </a:p>
        </p:txBody>
      </p:sp>
      <p:sp>
        <p:nvSpPr>
          <p:cNvPr id="8" name="Rounded Rectangle 7"/>
          <p:cNvSpPr/>
          <p:nvPr/>
        </p:nvSpPr>
        <p:spPr>
          <a:xfrm>
            <a:off x="731520" y="1463040"/>
            <a:ext cx="34290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3063240" cy="1783080"/>
          </a:xfrm>
          <a:prstGeom prst="rect">
            <a:avLst/>
          </a:prstGeom>
          <a:noFill/>
        </p:spPr>
        <p:txBody>
          <a:bodyPr wrap="square">
            <a:spAutoFit/>
          </a:bodyPr>
          <a:lstStyle/>
          <a:p>
            <a:pPr>
              <a:defRPr sz="1200" b="1">
                <a:solidFill>
                  <a:srgbClr val="0F172A"/>
                </a:solidFill>
              </a:defRPr>
            </a:pPr>
            <a:r>
              <a:t>Bagus Hanindyo Kusuma</a:t>
            </a:r>
          </a:p>
          <a:p>
            <a:pPr>
              <a:spcBef>
                <a:spcPts val="200"/>
              </a:spcBef>
              <a:defRPr sz="850" b="1">
                <a:solidFill>
                  <a:srgbClr val="2563EB"/>
                </a:solidFill>
              </a:defRPr>
            </a:pPr>
            <a:r>
              <a:t>LEAD / AGILE COACH / PM</a:t>
            </a:r>
          </a:p>
          <a:p>
            <a:pPr>
              <a:spcBef>
                <a:spcPts val="600"/>
              </a:spcBef>
              <a:defRPr sz="950">
                <a:solidFill>
                  <a:srgbClr val="64748B"/>
                </a:solidFill>
              </a:defRPr>
            </a:pPr>
            <a:r>
              <a:t>Scrum Master &amp; Program Manager dengan pendekatan servant leadership, memandu arsitektur kolaboratif dan tata kelola siklus pengembangan sistem.</a:t>
            </a:r>
          </a:p>
        </p:txBody>
      </p:sp>
      <p:sp>
        <p:nvSpPr>
          <p:cNvPr id="10" name="Rounded Rectangle 9"/>
          <p:cNvSpPr/>
          <p:nvPr/>
        </p:nvSpPr>
        <p:spPr>
          <a:xfrm>
            <a:off x="4343400" y="1463040"/>
            <a:ext cx="34290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00200"/>
            <a:ext cx="3063240" cy="1783080"/>
          </a:xfrm>
          <a:prstGeom prst="rect">
            <a:avLst/>
          </a:prstGeom>
          <a:noFill/>
        </p:spPr>
        <p:txBody>
          <a:bodyPr wrap="square">
            <a:spAutoFit/>
          </a:bodyPr>
          <a:lstStyle/>
          <a:p>
            <a:pPr>
              <a:defRPr sz="1200" b="1">
                <a:solidFill>
                  <a:srgbClr val="0F172A"/>
                </a:solidFill>
              </a:defRPr>
            </a:pPr>
            <a:r>
              <a:t>Anand Ferdiansyah</a:t>
            </a:r>
          </a:p>
          <a:p>
            <a:pPr>
              <a:spcBef>
                <a:spcPts val="200"/>
              </a:spcBef>
              <a:defRPr sz="850" b="1">
                <a:solidFill>
                  <a:srgbClr val="2563EB"/>
                </a:solidFill>
              </a:defRPr>
            </a:pPr>
            <a:r>
              <a:t>SECURITY ARCHITECTURE LEAD</a:t>
            </a:r>
          </a:p>
          <a:p>
            <a:pPr>
              <a:spcBef>
                <a:spcPts val="600"/>
              </a:spcBef>
              <a:defRPr sz="950">
                <a:solidFill>
                  <a:srgbClr val="64748B"/>
                </a:solidFill>
              </a:defRPr>
            </a:pPr>
            <a:r>
              <a:t>Mahasiswa Universitas Pamulang, berfokus pada normalisasi skema data heterogen, validasi Gatekeeper, dan mitigasi risiko time drift.</a:t>
            </a:r>
          </a:p>
        </p:txBody>
      </p:sp>
      <p:sp>
        <p:nvSpPr>
          <p:cNvPr id="12" name="Rounded Rectangle 11"/>
          <p:cNvSpPr/>
          <p:nvPr/>
        </p:nvSpPr>
        <p:spPr>
          <a:xfrm>
            <a:off x="7955280" y="1463040"/>
            <a:ext cx="34290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600200"/>
            <a:ext cx="3063240" cy="1783080"/>
          </a:xfrm>
          <a:prstGeom prst="rect">
            <a:avLst/>
          </a:prstGeom>
          <a:noFill/>
        </p:spPr>
        <p:txBody>
          <a:bodyPr wrap="square">
            <a:spAutoFit/>
          </a:bodyPr>
          <a:lstStyle/>
          <a:p>
            <a:pPr>
              <a:defRPr sz="1200" b="1">
                <a:solidFill>
                  <a:srgbClr val="0F172A"/>
                </a:solidFill>
              </a:defRPr>
            </a:pPr>
            <a:r>
              <a:t>Fitus Yayan Ofnaio Zebua</a:t>
            </a:r>
          </a:p>
          <a:p>
            <a:pPr>
              <a:spcBef>
                <a:spcPts val="200"/>
              </a:spcBef>
              <a:defRPr sz="850" b="1">
                <a:solidFill>
                  <a:srgbClr val="2563EB"/>
                </a:solidFill>
              </a:defRPr>
            </a:pPr>
            <a:r>
              <a:t>OPERATIONS ANALYST</a:t>
            </a:r>
          </a:p>
          <a:p>
            <a:pPr>
              <a:spcBef>
                <a:spcPts val="600"/>
              </a:spcBef>
              <a:defRPr sz="950">
                <a:solidFill>
                  <a:srgbClr val="64748B"/>
                </a:solidFill>
              </a:defRPr>
            </a:pPr>
            <a:r>
              <a:t>Mahasiswa Universitas Pamulang &amp; Pengemudi Grab aktif, berfokus pada verifikasi logika operasional skenario insiden dan penanganan alert fatigue.</a:t>
            </a:r>
          </a:p>
        </p:txBody>
      </p:sp>
      <p:sp>
        <p:nvSpPr>
          <p:cNvPr id="14" name="Rounded Rectangle 13"/>
          <p:cNvSpPr/>
          <p:nvPr/>
        </p:nvSpPr>
        <p:spPr>
          <a:xfrm>
            <a:off x="731520" y="3749039"/>
            <a:ext cx="525780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886200"/>
            <a:ext cx="4892040" cy="2103120"/>
          </a:xfrm>
          <a:prstGeom prst="rect">
            <a:avLst/>
          </a:prstGeom>
          <a:noFill/>
        </p:spPr>
        <p:txBody>
          <a:bodyPr wrap="square">
            <a:spAutoFit/>
          </a:bodyPr>
          <a:lstStyle/>
          <a:p>
            <a:pPr>
              <a:defRPr sz="1200" b="1">
                <a:solidFill>
                  <a:srgbClr val="1E3A8A"/>
                </a:solidFill>
              </a:defRPr>
            </a:pPr>
            <a:r>
              <a:t>🏢 Analogi Gedung Perkantoran Raksasa</a:t>
            </a:r>
          </a:p>
          <a:p>
            <a:pPr>
              <a:spcBef>
                <a:spcPts val="600"/>
              </a:spcBef>
              <a:defRPr sz="1000">
                <a:solidFill>
                  <a:srgbClr val="1E293B"/>
                </a:solidFill>
              </a:defRPr>
            </a:pPr>
            <a:r>
              <a:t>SIEM diibaratkan ruang kendali terpadu gedung bertingkat dengan ratusan pintu dan CCTV. Saat kartu akses 'Budi' digunakan di lobi sementara workstation Budi aktif di lantai 15, SIEM membunyikan alarm korelasi seketika.</a:t>
            </a:r>
          </a:p>
        </p:txBody>
      </p:sp>
      <p:sp>
        <p:nvSpPr>
          <p:cNvPr id="16" name="Rounded Rectangle 15"/>
          <p:cNvSpPr/>
          <p:nvPr/>
        </p:nvSpPr>
        <p:spPr>
          <a:xfrm>
            <a:off x="6172200" y="3749039"/>
            <a:ext cx="525780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886200"/>
            <a:ext cx="4892040" cy="2103120"/>
          </a:xfrm>
          <a:prstGeom prst="rect">
            <a:avLst/>
          </a:prstGeom>
          <a:noFill/>
        </p:spPr>
        <p:txBody>
          <a:bodyPr wrap="square">
            <a:spAutoFit/>
          </a:bodyPr>
          <a:lstStyle/>
          <a:p>
            <a:pPr>
              <a:defRPr sz="1200" b="1">
                <a:solidFill>
                  <a:srgbClr val="1E3A8A"/>
                </a:solidFill>
              </a:defRPr>
            </a:pPr>
            <a:r>
              <a:t>🛡️ Perbedaan Peran: Antivirus vs SIEM &amp; 'SI' vs 'EM'</a:t>
            </a:r>
          </a:p>
          <a:p>
            <a:pPr>
              <a:spcBef>
                <a:spcPts val="600"/>
              </a:spcBef>
              <a:defRPr sz="1000">
                <a:solidFill>
                  <a:srgbClr val="1E293B"/>
                </a:solidFill>
              </a:defRPr>
            </a:pPr>
            <a:r>
              <a:t>Antivirus melindungi satu perangkat lokal secara pasif; SIEM mengawasi seluruh perimeter secara holistik. 'Security Information' mengarsipkan data audit kepatuhan, sedangkan 'Event Management' mengorelasikan anomali real-time.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291840" cy="29260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E3A8A"/>
                </a:solidFill>
                <a:latin typeface="Segoe UI"/>
              </a:defRPr>
            </a:pPr>
            <a:r>
              <a:t>NILAI BISNIS</a:t>
            </a:r>
          </a:p>
        </p:txBody>
      </p:sp>
      <p:sp>
        <p:nvSpPr>
          <p:cNvPr id="5" name="TextBox 4"/>
          <p:cNvSpPr txBox="1"/>
          <p:nvPr/>
        </p:nvSpPr>
        <p:spPr>
          <a:xfrm>
            <a:off x="731520" y="621792"/>
            <a:ext cx="10698480" cy="731520"/>
          </a:xfrm>
          <a:prstGeom prst="rect">
            <a:avLst/>
          </a:prstGeom>
          <a:noFill/>
        </p:spPr>
        <p:txBody>
          <a:bodyPr wrap="square">
            <a:spAutoFit/>
          </a:bodyPr>
          <a:lstStyle/>
          <a:p>
            <a:pPr>
              <a:defRPr sz="2000" b="1">
                <a:solidFill>
                  <a:srgbClr val="0F172A"/>
                </a:solidFill>
                <a:latin typeface="Segoe UI"/>
              </a:defRPr>
            </a:pPr>
            <a:r>
              <a:t>Enam Nilai Strategis Mini-SIEM bagi Operasional Bisnis</a:t>
            </a:r>
          </a:p>
          <a:p>
            <a:pPr>
              <a:spcBef>
                <a:spcPts val="300"/>
              </a:spcBef>
              <a:defRPr sz="1050">
                <a:solidFill>
                  <a:srgbClr val="64748B"/>
                </a:solidFill>
                <a:latin typeface="Segoe UI"/>
              </a:defRPr>
            </a:pPr>
            <a:r>
              <a:t>Pondasi kapabilitas pertahanan siber yang andal, akuntabel, dan berorientasi efisiensi biaya.</a:t>
            </a:r>
          </a:p>
        </p:txBody>
      </p:sp>
      <p:sp>
        <p:nvSpPr>
          <p:cNvPr id="6" name="Rectangle 5"/>
          <p:cNvSpPr/>
          <p:nvPr/>
        </p:nvSpPr>
        <p:spPr>
          <a:xfrm>
            <a:off x="731520" y="63550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00800"/>
            <a:ext cx="10728655" cy="320040"/>
          </a:xfrm>
          <a:prstGeom prst="rect">
            <a:avLst/>
          </a:prstGeom>
          <a:noFill/>
        </p:spPr>
        <p:txBody>
          <a:bodyPr wrap="none">
            <a:spAutoFit/>
          </a:bodyPr>
          <a:lstStyle/>
          <a:p>
            <a:pPr>
              <a:defRPr sz="850">
                <a:solidFill>
                  <a:srgbClr val="64748B"/>
                </a:solidFill>
                <a:latin typeface="Segoe UI"/>
              </a:defRPr>
            </a:pPr>
            <a:r>
              <a:t>Enterprise Cyber Defense &amp; SIEM Governance  |  Corporate Strategic Operations</a:t>
            </a:r>
          </a:p>
        </p:txBody>
      </p:sp>
      <p:sp>
        <p:nvSpPr>
          <p:cNvPr id="8" name="Rounded Rectangle 7"/>
          <p:cNvSpPr/>
          <p:nvPr/>
        </p:nvSpPr>
        <p:spPr>
          <a:xfrm>
            <a:off x="731520" y="1463040"/>
            <a:ext cx="34290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627632"/>
            <a:ext cx="73152"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600200"/>
            <a:ext cx="2971800" cy="1828800"/>
          </a:xfrm>
          <a:prstGeom prst="rect">
            <a:avLst/>
          </a:prstGeom>
          <a:noFill/>
        </p:spPr>
        <p:txBody>
          <a:bodyPr wrap="square">
            <a:spAutoFit/>
          </a:bodyPr>
          <a:lstStyle/>
          <a:p>
            <a:pPr>
              <a:defRPr sz="1200" b="1">
                <a:solidFill>
                  <a:srgbClr val="0F172A"/>
                </a:solidFill>
              </a:defRPr>
            </a:pPr>
            <a:r>
              <a:t>1. Gatekeeper Ingestion</a:t>
            </a:r>
          </a:p>
          <a:p>
            <a:pPr>
              <a:spcBef>
                <a:spcPts val="800"/>
              </a:spcBef>
              <a:defRPr sz="1000">
                <a:solidFill>
                  <a:srgbClr val="64748B"/>
                </a:solidFill>
              </a:defRPr>
            </a:pPr>
            <a:r>
              <a:t>Normalisasi kontrak data JSON kanonikal dari beragam sumber log. Menolak data cacat dan clock drift via HTTP 422.</a:t>
            </a:r>
          </a:p>
        </p:txBody>
      </p:sp>
      <p:sp>
        <p:nvSpPr>
          <p:cNvPr id="11" name="Rounded Rectangle 10"/>
          <p:cNvSpPr/>
          <p:nvPr/>
        </p:nvSpPr>
        <p:spPr>
          <a:xfrm>
            <a:off x="4343400" y="1463040"/>
            <a:ext cx="34290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80560" y="1627632"/>
            <a:ext cx="73152"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8" y="1600200"/>
            <a:ext cx="2971800" cy="1828800"/>
          </a:xfrm>
          <a:prstGeom prst="rect">
            <a:avLst/>
          </a:prstGeom>
          <a:noFill/>
        </p:spPr>
        <p:txBody>
          <a:bodyPr wrap="square">
            <a:spAutoFit/>
          </a:bodyPr>
          <a:lstStyle/>
          <a:p>
            <a:pPr>
              <a:defRPr sz="1200" b="1">
                <a:solidFill>
                  <a:srgbClr val="0F172A"/>
                </a:solidFill>
              </a:defRPr>
            </a:pPr>
            <a:r>
              <a:t>2. Rule Correlation Brain</a:t>
            </a:r>
          </a:p>
          <a:p>
            <a:pPr>
              <a:spcBef>
                <a:spcPts val="800"/>
              </a:spcBef>
              <a:defRPr sz="1000">
                <a:solidFill>
                  <a:srgbClr val="64748B"/>
                </a:solidFill>
              </a:defRPr>
            </a:pPr>
            <a:r>
              <a:t>Korelasi sliding window stateful di memori mendeteksi serangan L7, brute force, insider threat, dan anomali jam kantor.</a:t>
            </a:r>
          </a:p>
        </p:txBody>
      </p:sp>
      <p:sp>
        <p:nvSpPr>
          <p:cNvPr id="14" name="Rounded Rectangle 13"/>
          <p:cNvSpPr/>
          <p:nvPr/>
        </p:nvSpPr>
        <p:spPr>
          <a:xfrm>
            <a:off x="7955280" y="1463040"/>
            <a:ext cx="34290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92440" y="1627632"/>
            <a:ext cx="73152" cy="320040"/>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600200"/>
            <a:ext cx="2971800" cy="1828800"/>
          </a:xfrm>
          <a:prstGeom prst="rect">
            <a:avLst/>
          </a:prstGeom>
          <a:noFill/>
        </p:spPr>
        <p:txBody>
          <a:bodyPr wrap="square">
            <a:spAutoFit/>
          </a:bodyPr>
          <a:lstStyle/>
          <a:p>
            <a:pPr>
              <a:defRPr sz="1200" b="1">
                <a:solidFill>
                  <a:srgbClr val="0F172A"/>
                </a:solidFill>
              </a:defRPr>
            </a:pPr>
            <a:r>
              <a:t>3. SOAR Active Containment</a:t>
            </a:r>
          </a:p>
          <a:p>
            <a:pPr>
              <a:spcBef>
                <a:spcPts val="800"/>
              </a:spcBef>
              <a:defRPr sz="1000">
                <a:solidFill>
                  <a:srgbClr val="64748B"/>
                </a:solidFill>
              </a:defRPr>
            </a:pPr>
            <a:r>
              <a:t>Respons aktif memutus serangan di gerbang masuk: Host Quarantine &amp; User Suspension menolak paket via HTTP 403.</a:t>
            </a:r>
          </a:p>
        </p:txBody>
      </p:sp>
      <p:sp>
        <p:nvSpPr>
          <p:cNvPr id="17" name="Rounded Rectangle 16"/>
          <p:cNvSpPr/>
          <p:nvPr/>
        </p:nvSpPr>
        <p:spPr>
          <a:xfrm>
            <a:off x="731520" y="3749039"/>
            <a:ext cx="34290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3913631"/>
            <a:ext cx="73152" cy="32004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3886199"/>
            <a:ext cx="2971800" cy="1828800"/>
          </a:xfrm>
          <a:prstGeom prst="rect">
            <a:avLst/>
          </a:prstGeom>
          <a:noFill/>
        </p:spPr>
        <p:txBody>
          <a:bodyPr wrap="square">
            <a:spAutoFit/>
          </a:bodyPr>
          <a:lstStyle/>
          <a:p>
            <a:pPr>
              <a:defRPr sz="1200" b="1">
                <a:solidFill>
                  <a:srgbClr val="0F172A"/>
                </a:solidFill>
              </a:defRPr>
            </a:pPr>
            <a:r>
              <a:t>4. Hot vs Cold Storage Tiering</a:t>
            </a:r>
          </a:p>
          <a:p>
            <a:pPr>
              <a:spcBef>
                <a:spcPts val="800"/>
              </a:spcBef>
              <a:defRPr sz="1000">
                <a:solidFill>
                  <a:srgbClr val="64748B"/>
                </a:solidFill>
              </a:defRPr>
            </a:pPr>
            <a:r>
              <a:t>Mengatasi celah temporal blind spot serangan APT puluhan hari menggunakan Persistent Stateful Greylist dan rehidrasi forensik.</a:t>
            </a:r>
          </a:p>
        </p:txBody>
      </p:sp>
      <p:sp>
        <p:nvSpPr>
          <p:cNvPr id="20" name="Rounded Rectangle 19"/>
          <p:cNvSpPr/>
          <p:nvPr/>
        </p:nvSpPr>
        <p:spPr>
          <a:xfrm>
            <a:off x="4343400" y="3749039"/>
            <a:ext cx="34290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80560" y="3913631"/>
            <a:ext cx="73152" cy="32004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3886199"/>
            <a:ext cx="2971800" cy="1828800"/>
          </a:xfrm>
          <a:prstGeom prst="rect">
            <a:avLst/>
          </a:prstGeom>
          <a:noFill/>
        </p:spPr>
        <p:txBody>
          <a:bodyPr wrap="square">
            <a:spAutoFit/>
          </a:bodyPr>
          <a:lstStyle/>
          <a:p>
            <a:pPr>
              <a:defRPr sz="1200" b="1">
                <a:solidFill>
                  <a:srgbClr val="0F172A"/>
                </a:solidFill>
              </a:defRPr>
            </a:pPr>
            <a:r>
              <a:t>5. Universal Log Adapter</a:t>
            </a:r>
          </a:p>
          <a:p>
            <a:pPr>
              <a:spcBef>
                <a:spcPts val="800"/>
              </a:spcBef>
              <a:defRPr sz="1000">
                <a:solidFill>
                  <a:srgbClr val="64748B"/>
                </a:solidFill>
              </a:defRPr>
            </a:pPr>
            <a:r>
              <a:t>Membaca 27 berkas log fisik autentik (Nginx, Syslog RFC 3164, CSV, PGAudit JSONL, MQTT) dengan timestamp shifting dinamis.</a:t>
            </a:r>
          </a:p>
        </p:txBody>
      </p:sp>
      <p:sp>
        <p:nvSpPr>
          <p:cNvPr id="23" name="Rounded Rectangle 22"/>
          <p:cNvSpPr/>
          <p:nvPr/>
        </p:nvSpPr>
        <p:spPr>
          <a:xfrm>
            <a:off x="7955280" y="3749039"/>
            <a:ext cx="34290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92440" y="3913631"/>
            <a:ext cx="73152" cy="320040"/>
          </a:xfrm>
          <a:prstGeom prst="round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47888" y="3886199"/>
            <a:ext cx="2971800" cy="1828800"/>
          </a:xfrm>
          <a:prstGeom prst="rect">
            <a:avLst/>
          </a:prstGeom>
          <a:noFill/>
        </p:spPr>
        <p:txBody>
          <a:bodyPr wrap="square">
            <a:spAutoFit/>
          </a:bodyPr>
          <a:lstStyle/>
          <a:p>
            <a:pPr>
              <a:defRPr sz="1200" b="1">
                <a:solidFill>
                  <a:srgbClr val="0F172A"/>
                </a:solidFill>
              </a:defRPr>
            </a:pPr>
            <a:r>
              <a:t>6. Pemantauan Fasilitas Fisik OT</a:t>
            </a:r>
          </a:p>
          <a:p>
            <a:pPr>
              <a:spcBef>
                <a:spcPts val="800"/>
              </a:spcBef>
              <a:defRPr sz="1000">
                <a:solidFill>
                  <a:srgbClr val="64748B"/>
                </a:solidFill>
              </a:defRPr>
            </a:pPr>
            <a:r>
              <a:t>Memonitor sensor dan kontrol pendingin fasilitas datacenter via MQTT untuk mencegah insiden thermal runaway katastropik.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291840" cy="29260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1E3A8A"/>
                </a:solidFill>
                <a:latin typeface="Segoe UI"/>
              </a:defRPr>
            </a:pPr>
            <a:r>
              <a:t>ARSITEKTUR ENTERPRISE</a:t>
            </a:r>
          </a:p>
        </p:txBody>
      </p:sp>
      <p:sp>
        <p:nvSpPr>
          <p:cNvPr id="5" name="TextBox 4"/>
          <p:cNvSpPr txBox="1"/>
          <p:nvPr/>
        </p:nvSpPr>
        <p:spPr>
          <a:xfrm>
            <a:off x="731520" y="621792"/>
            <a:ext cx="10698480" cy="731520"/>
          </a:xfrm>
          <a:prstGeom prst="rect">
            <a:avLst/>
          </a:prstGeom>
          <a:noFill/>
        </p:spPr>
        <p:txBody>
          <a:bodyPr wrap="square">
            <a:spAutoFit/>
          </a:bodyPr>
          <a:lstStyle/>
          <a:p>
            <a:pPr>
              <a:defRPr sz="2000" b="1">
                <a:solidFill>
                  <a:srgbClr val="0F172A"/>
                </a:solidFill>
                <a:latin typeface="Segoe UI"/>
              </a:defRPr>
            </a:pPr>
            <a:r>
              <a:t>Blueprint Arsitektur 5 Layer Enterprise Ingestion Pipeline</a:t>
            </a:r>
          </a:p>
          <a:p>
            <a:pPr>
              <a:spcBef>
                <a:spcPts val="300"/>
              </a:spcBef>
              <a:defRPr sz="1050">
                <a:solidFill>
                  <a:srgbClr val="64748B"/>
                </a:solidFill>
                <a:latin typeface="Segoe UI"/>
              </a:defRPr>
            </a:pPr>
            <a:r>
              <a:t>Pemrosesan aliran telemetri heterogen dari sensor fisik dan aplikasi hingga konsol analis SOC.</a:t>
            </a:r>
          </a:p>
        </p:txBody>
      </p:sp>
      <p:sp>
        <p:nvSpPr>
          <p:cNvPr id="6" name="Rectangle 5"/>
          <p:cNvSpPr/>
          <p:nvPr/>
        </p:nvSpPr>
        <p:spPr>
          <a:xfrm>
            <a:off x="731520" y="63550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00800"/>
            <a:ext cx="10728655" cy="320040"/>
          </a:xfrm>
          <a:prstGeom prst="rect">
            <a:avLst/>
          </a:prstGeom>
          <a:noFill/>
        </p:spPr>
        <p:txBody>
          <a:bodyPr wrap="none">
            <a:spAutoFit/>
          </a:bodyPr>
          <a:lstStyle/>
          <a:p>
            <a:pPr>
              <a:defRPr sz="850">
                <a:solidFill>
                  <a:srgbClr val="64748B"/>
                </a:solidFill>
                <a:latin typeface="Segoe UI"/>
              </a:defRPr>
            </a:pPr>
            <a:r>
              <a:t>Enterprise Cyber Defense &amp; SIEM Governance  |  Corporate Strategic Operations</a:t>
            </a:r>
          </a:p>
        </p:txBody>
      </p:sp>
      <p:sp>
        <p:nvSpPr>
          <p:cNvPr id="8" name="Rounded Rectangle 7"/>
          <p:cNvSpPr/>
          <p:nvPr/>
        </p:nvSpPr>
        <p:spPr>
          <a:xfrm>
            <a:off x="731520" y="1463040"/>
            <a:ext cx="10728655"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109728" cy="8046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536192"/>
            <a:ext cx="10241280" cy="658368"/>
          </a:xfrm>
          <a:prstGeom prst="rect">
            <a:avLst/>
          </a:prstGeom>
          <a:noFill/>
        </p:spPr>
        <p:txBody>
          <a:bodyPr wrap="square">
            <a:spAutoFit/>
          </a:bodyPr>
          <a:lstStyle/>
          <a:p>
            <a:pPr>
              <a:defRPr sz="1150" b="1">
                <a:solidFill>
                  <a:srgbClr val="0F172A"/>
                </a:solidFill>
              </a:defRPr>
            </a:pPr>
            <a:r>
              <a:t>Layer 1: Sumber Telemetri Heterogen</a:t>
            </a:r>
          </a:p>
          <a:p>
            <a:pPr>
              <a:spcBef>
                <a:spcPts val="200"/>
              </a:spcBef>
              <a:defRPr sz="950">
                <a:solidFill>
                  <a:srgbClr val="64748B"/>
                </a:solidFill>
              </a:defRPr>
            </a:pPr>
            <a:r>
              <a:t>Menghubungkan Nginx Web Server, Linux Syslog RFC 3164, Turnstile Gate CSV, Database PGAudit, dan Broker MQTT. 27 berkas fisik terintegrasi di sample_logs/.</a:t>
            </a:r>
          </a:p>
        </p:txBody>
      </p:sp>
      <p:sp>
        <p:nvSpPr>
          <p:cNvPr id="11" name="Rounded Rectangle 10"/>
          <p:cNvSpPr/>
          <p:nvPr/>
        </p:nvSpPr>
        <p:spPr>
          <a:xfrm>
            <a:off x="731520" y="2395728"/>
            <a:ext cx="10728655"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395728"/>
            <a:ext cx="109728" cy="80467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468880"/>
            <a:ext cx="10241280" cy="658368"/>
          </a:xfrm>
          <a:prstGeom prst="rect">
            <a:avLst/>
          </a:prstGeom>
          <a:noFill/>
        </p:spPr>
        <p:txBody>
          <a:bodyPr wrap="square">
            <a:spAutoFit/>
          </a:bodyPr>
          <a:lstStyle/>
          <a:p>
            <a:pPr>
              <a:defRPr sz="1150" b="1">
                <a:solidFill>
                  <a:srgbClr val="0F172A"/>
                </a:solidFill>
              </a:defRPr>
            </a:pPr>
            <a:r>
              <a:t>Layer 2: Universal Log Adapter</a:t>
            </a:r>
          </a:p>
          <a:p>
            <a:pPr>
              <a:spcBef>
                <a:spcPts val="200"/>
              </a:spcBef>
              <a:defRPr sz="950">
                <a:solidFill>
                  <a:srgbClr val="64748B"/>
                </a:solidFill>
              </a:defRPr>
            </a:pPr>
            <a:r>
              <a:t>Normalisasi parsing multi-format berbasis regex dan dynamic timestamp shifting untuk menyesuaikan jendela waktu korelasi secara otomatis.</a:t>
            </a:r>
          </a:p>
        </p:txBody>
      </p:sp>
      <p:sp>
        <p:nvSpPr>
          <p:cNvPr id="14" name="Rounded Rectangle 13"/>
          <p:cNvSpPr/>
          <p:nvPr/>
        </p:nvSpPr>
        <p:spPr>
          <a:xfrm>
            <a:off x="731520" y="3328416"/>
            <a:ext cx="10728655"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328416"/>
            <a:ext cx="109728" cy="80467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401568"/>
            <a:ext cx="10241280" cy="658368"/>
          </a:xfrm>
          <a:prstGeom prst="rect">
            <a:avLst/>
          </a:prstGeom>
          <a:noFill/>
        </p:spPr>
        <p:txBody>
          <a:bodyPr wrap="square">
            <a:spAutoFit/>
          </a:bodyPr>
          <a:lstStyle/>
          <a:p>
            <a:pPr>
              <a:defRPr sz="1150" b="1">
                <a:solidFill>
                  <a:srgbClr val="0F172A"/>
                </a:solidFill>
              </a:defRPr>
            </a:pPr>
            <a:r>
              <a:t>Layer 3: Gatekeeper Ingestion &amp; Validasi</a:t>
            </a:r>
          </a:p>
          <a:p>
            <a:pPr>
              <a:spcBef>
                <a:spcPts val="200"/>
              </a:spcBef>
              <a:defRPr sz="950">
                <a:solidFill>
                  <a:srgbClr val="64748B"/>
                </a:solidFill>
              </a:defRPr>
            </a:pPr>
            <a:r>
              <a:t>Pemeriksaan integritas IPv4, kelengkapan atribut wajib, audit Time Drift (&lt; 24 jam lampau / masa depan), dan penolakan langsung entitas karantina SOAR (HTTP 403).</a:t>
            </a:r>
          </a:p>
        </p:txBody>
      </p:sp>
      <p:sp>
        <p:nvSpPr>
          <p:cNvPr id="17" name="Rounded Rectangle 16"/>
          <p:cNvSpPr/>
          <p:nvPr/>
        </p:nvSpPr>
        <p:spPr>
          <a:xfrm>
            <a:off x="731520" y="4261104"/>
            <a:ext cx="10728655"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261104"/>
            <a:ext cx="109728" cy="8046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334256"/>
            <a:ext cx="10241280" cy="658368"/>
          </a:xfrm>
          <a:prstGeom prst="rect">
            <a:avLst/>
          </a:prstGeom>
          <a:noFill/>
        </p:spPr>
        <p:txBody>
          <a:bodyPr wrap="square">
            <a:spAutoFit/>
          </a:bodyPr>
          <a:lstStyle/>
          <a:p>
            <a:pPr>
              <a:defRPr sz="1150" b="1">
                <a:solidFill>
                  <a:srgbClr val="0F172A"/>
                </a:solidFill>
              </a:defRPr>
            </a:pPr>
            <a:r>
              <a:t>Layer 4: Correlation Engine (The Brain)</a:t>
            </a:r>
          </a:p>
          <a:p>
            <a:pPr>
              <a:spcBef>
                <a:spcPts val="200"/>
              </a:spcBef>
              <a:defRPr sz="950">
                <a:solidFill>
                  <a:srgbClr val="64748B"/>
                </a:solidFill>
              </a:defRPr>
            </a:pPr>
            <a:r>
              <a:t>Mesin korelasi berbasis aturan memproses sliding window waktu (10 detik, 60 detik, 1 jam), alert debouncing, dan korelasi sabotase hardware fisik.</a:t>
            </a:r>
          </a:p>
        </p:txBody>
      </p:sp>
      <p:sp>
        <p:nvSpPr>
          <p:cNvPr id="20" name="Rounded Rectangle 19"/>
          <p:cNvSpPr/>
          <p:nvPr/>
        </p:nvSpPr>
        <p:spPr>
          <a:xfrm>
            <a:off x="731520" y="5193792"/>
            <a:ext cx="10728655"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193792"/>
            <a:ext cx="109728" cy="804672"/>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266944"/>
            <a:ext cx="10241280" cy="658368"/>
          </a:xfrm>
          <a:prstGeom prst="rect">
            <a:avLst/>
          </a:prstGeom>
          <a:noFill/>
        </p:spPr>
        <p:txBody>
          <a:bodyPr wrap="square">
            <a:spAutoFit/>
          </a:bodyPr>
          <a:lstStyle/>
          <a:p>
            <a:pPr>
              <a:defRPr sz="1150" b="1">
                <a:solidFill>
                  <a:srgbClr val="0F172A"/>
                </a:solidFill>
              </a:defRPr>
            </a:pPr>
            <a:r>
              <a:t>Layer 5: Storage Tiering &amp; Web SOC Console</a:t>
            </a:r>
          </a:p>
          <a:p>
            <a:pPr>
              <a:spcBef>
                <a:spcPts val="200"/>
              </a:spcBef>
              <a:defRPr sz="950">
                <a:solidFill>
                  <a:srgbClr val="64748B"/>
                </a:solidFill>
              </a:defRPr>
            </a:pPr>
            <a:r>
              <a:t>Pemisahan Hot In-Memory Cache untuk korelasi instan dan Cold Storage untuk kepatuhan audit. Dasbor pemantauan real-time dengan audit trail terpadu.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
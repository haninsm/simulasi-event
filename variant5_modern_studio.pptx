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8F9FE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64592" cy="5029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961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F46E5"/>
                </a:solidFill>
                <a:latin typeface="Segoe UI"/>
              </a:defRPr>
            </a:pPr>
            <a:r>
              <a:t>ENTERPRISE CYBERSECURITY SIMULATION  •  THEME 5: MODERN STUDIO CLEAN (LINEAR / STRIPE UI STYLE)</a:t>
            </a:r>
          </a:p>
          <a:p>
            <a:pPr>
              <a:spcBef>
                <a:spcPts val="800"/>
              </a:spcBef>
              <a:defRPr sz="3200" b="1">
                <a:solidFill>
                  <a:srgbClr val="1E1B4B"/>
                </a:solidFill>
                <a:latin typeface="Segoe UI"/>
              </a:defRPr>
            </a:pPr>
            <a:r>
              <a:t>Mini-SIEM Command Center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Platform Telemetri Heterogen Real-Time, Gatekeeper RFC Validation, SOAR Active Defense, Human-Supervised AI Adaptation &amp; Korelasi 9 Skenario Insiden Siber/OT</a:t>
            </a:r>
          </a:p>
          <a:p>
            <a:pPr>
              <a:spcBef>
                <a:spcPts val="2000"/>
              </a:spcBef>
              <a:defRPr sz="1050">
                <a:solidFill>
                  <a:srgbClr val="7C3AED"/>
                </a:solidFill>
                <a:latin typeface="Segoe UI"/>
              </a:defRPr>
            </a:pPr>
            <a:r>
              <a:t>Dokumen Induk: mini_siem_product_requirements_document.md (V2.2)</a:t>
            </a:r>
            <a:br/>
            <a:r>
              <a:t>Tim Pengembang: JadiBegini (Bagus Hanindyo Kusuma, Anand Ferdiansyah, Fitus Yayan Ofnaio Zebua)</a:t>
            </a:r>
            <a:br/>
            <a:r>
              <a:t>Framework &amp; Stack: Python 3.11, FastAPI, Pydantic V2, SOAR Active Quarantine, MQTT Broker, NIST SP 800-92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01 / TEAM &amp; PHILOSOPHY (PRD §1.2 - 1.3)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Profil Tim 'JadiBegini' &amp; Filosofi Fundamental SIEM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Bagus Hanindyo Kusuma</a:t>
            </a:r>
          </a:p>
          <a:p>
            <a:pPr>
              <a:spcBef>
                <a:spcPts val="200"/>
              </a:spcBef>
              <a:defRPr sz="900" b="1">
                <a:solidFill>
                  <a:srgbClr val="4F46E5"/>
                </a:solidFill>
                <a:latin typeface="Segoe UI"/>
              </a:defRPr>
            </a:pPr>
            <a:r>
              <a:t>TEAM LEAD / SCRUM MASTER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Scrum Master &amp; naturally agile coach dengan gaya kepemimpinan servant leadership. Berpengalaman luas sebagai Program Manager dan IT Project Manager dalam tata kelola siklus pengembangan sistem.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210312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Anand Ferdiansyah</a:t>
            </a:r>
          </a:p>
          <a:p>
            <a:pPr>
              <a:spcBef>
                <a:spcPts val="200"/>
              </a:spcBef>
              <a:defRPr sz="900" b="1">
                <a:solidFill>
                  <a:srgbClr val="4F46E5"/>
                </a:solidFill>
                <a:latin typeface="Segoe UI"/>
              </a:defRPr>
            </a:pPr>
            <a:r>
              <a:t>SECURITY RESEARCHER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Mahasiswa Aktif Program Karyawan di Universitas Pamulang. Berfokus pada riset validasi skema log heterogen, gatekeeper ingestion, dan mitigasi time drift pada sistem keamanan siber.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210312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Fitus Yayan Ofnaio Zebua</a:t>
            </a:r>
          </a:p>
          <a:p>
            <a:pPr>
              <a:spcBef>
                <a:spcPts val="200"/>
              </a:spcBef>
              <a:defRPr sz="900" b="1">
                <a:solidFill>
                  <a:srgbClr val="7C3AED"/>
                </a:solidFill>
                <a:latin typeface="Segoe UI"/>
              </a:defRPr>
            </a:pPr>
            <a:r>
              <a:t>OPERATIONS ANALYST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Mahasiswa Aktif Program Karyawan di Universitas Pamulang dan aktif berdedikasi sebagai Driver Grab. Berfokus pada analisis operasional korelasi insiden dan simulasi skenario lapangan.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5257800" cy="233172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109728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886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🏢 Analogi Gedung Perkantoran Raksasa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SIEM diibaratkan ruang kendali terpadu gedung bertingkat ratusan pintu &amp; CCTV. Kartu akses 'Budi' di-tap di turnstile lobi sementara workstation Budi aktif di lantai 15 memicu alarm korelasi seketika.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49039"/>
            <a:ext cx="5257800" cy="233172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49039"/>
            <a:ext cx="109728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86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🛡️ SIEM vs Antivirus &amp; 'SI' vs 'EM'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Antivirus hanya menjaga 1 endpoint lokal; SIEM mengawasi seluruh perimeter. 'Security Information' mengarsipkan data kepatuhan; 'Event Management' mengorelasikan log secara real-time saat insiden berlangsung.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02 / PRODUCT OVERVIEW (PRD §1.1)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Ringkasan Produk &amp; 6 Nilai Strategis Mini-SIEM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1. Gatekeeper Ingestion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Normalisasi kontrak JSON kanonikal dari beragam sumber log mentah. Menolak data cacat dan clock drift via HTTP 422.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210312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2. Rule Correlation Engine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Mesin korelasi sliding window stateful di memori mendeteksi serangan L7, brute force, insider threat, dan anomali jam operasional.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210312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3. SOAR Active Defense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Respons insiden aktif memutus serangan di gerbang: Host Quarantine &amp; User Suspension menolak paket penyerang via HTTP 403.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3429000" cy="210312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109728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4. Hot vs Cold Storage (APT)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Mengatasi temporal blind spot serangan berjarak puluhan hari menggunakan Persistent Stateful Greylist dan rehidrasi forensik.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749039"/>
            <a:ext cx="3429000" cy="210312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749039"/>
            <a:ext cx="109728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5. Universal Log Adapter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Membaca 27 berkas log fisik autentik (Nginx, Syslog RFC 3164, CSV, PGAudit JSONL, MQTT JSONL) dengan timestamp shifting dinamis.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3749039"/>
            <a:ext cx="3429000" cy="210312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80" y="3749039"/>
            <a:ext cx="109728" cy="21031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6. OT Hardware Monitoring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Memonitor telemetri sensor dan kontrol hardware fasilitas datacenter via protokol MQTT untuk mencegah sabotase thermal katastropik.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03 / SYSTEM ARCHITECTURE (PRD §3 &amp; 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Arsitektur Sistem: 5 Layer Pipeline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804672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8046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1B4B"/>
                </a:solidFill>
                <a:latin typeface="Segoe UI"/>
              </a:defRPr>
            </a:pPr>
            <a:r>
              <a:t>1. LAYER TELEMETRI HETEROGEN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Web Servers (Nginx), SSH Auth (Syslog RFC 3164), Access Gate (CSV), DB Audit (PGAudit JSONL), &amp; Hardware OT (MQTT Broker). 27 berkas log riil di sample_logs/.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95728"/>
            <a:ext cx="10698480" cy="804672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109728" cy="8046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1B4B"/>
                </a:solidFill>
                <a:latin typeface="Segoe UI"/>
              </a:defRPr>
            </a:pPr>
            <a:r>
              <a:t>2. UNIVERSAL LOG ADAPTER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app/log_adapter.py: Regex parser multi-format mengonversi log mentah ke kontrak kanonikal LogEvent secara dinamis relatif terhadap waktu nyata NOW().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28416"/>
            <a:ext cx="10698480" cy="804672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28416"/>
            <a:ext cx="109728" cy="80467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19856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1B4B"/>
                </a:solidFill>
                <a:latin typeface="Segoe UI"/>
              </a:defRPr>
            </a:pPr>
            <a:r>
              <a:t>3. GATEKEEPER &amp; VALIDATION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app/main.py: Pydantic V2 schema validation, IPv4 format check, Time Drift verification (&lt;24h). SOAR check: isolated host &amp; suspended user -&gt; HTTP 403 Forbidden.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61104"/>
            <a:ext cx="10698480" cy="804672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61104"/>
            <a:ext cx="109728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5254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1B4B"/>
                </a:solidFill>
                <a:latin typeface="Segoe UI"/>
              </a:defRPr>
            </a:pPr>
            <a:r>
              <a:t>4. THE BRAIN: CORRELATION ENGINE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app/engine.py: Stateful in-memory sliding windows (10s, 60s, 1h), debouncing alert cooldown, Stateful Watchlist APT, dan korelasi sabotase 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93792"/>
            <a:ext cx="10698480" cy="804672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193792"/>
            <a:ext cx="10972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8523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1B4B"/>
                </a:solidFill>
                <a:latin typeface="Segoe UI"/>
              </a:defRPr>
            </a:pPr>
            <a:r>
              <a:t>5. STORAGE &amp; VISUALISASI SOC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Hot In-Memory Cache (5000 logs, 1000 alerts) + Cold Storage Archive. Dashboard web cyberpunk real-time (polling 2 detik) + SOAR Active Defense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04 / DATA CONTRACTS &amp; VALIDATION (PRD §2 &amp; §3A)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Spesifikasi Kontrak Data Kanonikal &amp; Ketahanan Gatekeeper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Segoe UI"/>
              </a:defRPr>
            </a:pPr>
            <a:r>
              <a:t>Kontrak Data Kanonikal (JSON Schema)</a:t>
            </a:r>
          </a:p>
          <a:p>
            <a:pPr>
              <a:spcBef>
                <a:spcPts val="800"/>
              </a:spcBef>
              <a:defRPr sz="950">
                <a:solidFill>
                  <a:srgbClr val="1E1B4B"/>
                </a:solidFill>
                <a:latin typeface="Consolas"/>
              </a:defRPr>
            </a:pPr>
            <a:r>
              <a:t>{</a:t>
            </a:r>
            <a:br/>
            <a:r>
              <a:t>  "timestamp": "YYYY-MM-DDThh:mm:ssZ",</a:t>
            </a:r>
            <a:br/>
            <a:r>
              <a:t>  "event_type": "login_attempt | web_request |</a:t>
            </a:r>
            <a:br/>
            <a:r>
              <a:t>                database_download | recon_probe |</a:t>
            </a:r>
            <a:br/>
            <a:r>
              <a:t>                ot_command | mqtt_command",</a:t>
            </a:r>
            <a:br/>
            <a:r>
              <a:t>  "user_id": "string (non-empty)",</a:t>
            </a:r>
            <a:br/>
            <a:r>
              <a:t>  "ip_address": "string (IPv4 Valid)",</a:t>
            </a:r>
            <a:br/>
            <a:r>
              <a:t>  "location": "string (non-empty)",</a:t>
            </a:r>
            <a:br/>
            <a:r>
              <a:t>  "status": "success | failed",</a:t>
            </a:r>
            <a:br/>
            <a:r>
              <a:t>  // Opsional untuk Telemetri Hardware OT:</a:t>
            </a:r>
            <a:br/>
            <a:r>
              <a:t>  "protocol": "MQTT | Modbus | BACnet",</a:t>
            </a:r>
            <a:br/>
            <a:r>
              <a:t>  "target_device": "CRAC-AC-CENTRAL-01",</a:t>
            </a:r>
            <a:br/>
            <a:r>
              <a:t>  "command": "POWER_OFF | STATUS_REPORT"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egoe UI"/>
              </a:defRPr>
            </a:pPr>
            <a:r>
              <a:t>Ketahanan Gatekeeper (Validasi Negatif)</a:t>
            </a:r>
          </a:p>
          <a:p>
            <a:pPr>
              <a:spcBef>
                <a:spcPts val="7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Format IP IPv4 Strict: Menolak alamat string rusak atau bukan format desimal 4 oktet (misal '999.999.999.999').</a:t>
            </a:r>
          </a:p>
          <a:p>
            <a:pPr>
              <a:spcBef>
                <a:spcPts val="7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Missing / Null Fields: Menolak paket jika atribut wajib seperti ip_address, user_id, atau location bernilai null atau kosong.</a:t>
            </a:r>
          </a:p>
          <a:p>
            <a:pPr>
              <a:spcBef>
                <a:spcPts val="7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Time Drift Error (&gt;24 Jam): Mencegah injeksi log basi lampau (seperti baterai RTC router CMOS reset ke 1970) dengan HTTP 422.</a:t>
            </a:r>
          </a:p>
          <a:p>
            <a:pPr>
              <a:spcBef>
                <a:spcPts val="7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Future Drift Clock Error: Menolak log yang memiliki stempel waktu di masa depan (&gt;30 detik dari waktu sistem riil).</a:t>
            </a:r>
          </a:p>
          <a:p>
            <a:pPr>
              <a:spcBef>
                <a:spcPts val="7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SOAR Active Enforcement: Jika IP terdaftar di isolated_hosts atau user_id di suspended_users, paket langsung DITOLAK di gerbang dengan HTTP 403 Forbidden.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05 / CORRELATION ENGINE (PRD §3C)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Matriks 7 Aturan Inti Mesin Korelasi (The Brain)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645920"/>
                <a:gridCol w="484632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ID Aturan</a:t>
                      </a:r>
                    </a:p>
                  </a:txBody>
                  <a:tcPr>
                    <a:solidFill>
                      <a:srgbClr val="F3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Nama Insiden</a:t>
                      </a:r>
                    </a:p>
                  </a:txBody>
                  <a:tcPr>
                    <a:solidFill>
                      <a:srgbClr val="F3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F3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Kondisi / Ambang Batas Korelasi</a:t>
                      </a:r>
                    </a:p>
                  </a:txBody>
                  <a:tcPr>
                    <a:solidFill>
                      <a:srgbClr val="F3F4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Rule 1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DDoS / Botnet Flood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&gt; 10 web_request dari 1 IP dalam rentang 10 detik.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Rule 2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Impossible Travel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2 login_attempt sukses user sama di lokasi beda selang &lt; 1 jam.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Rule 3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Distributed Brute Force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&gt; 5 login gagal untuk 1 user dari &gt; 3 IP berbeda dalam 1 menit.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Rule 4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Off-Hours Anomaly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MENENGAH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Aktivitas sukses user manusia di luar jam kerja (00:00 - 05:00).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Rule 5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Data Exfiltration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user_id download database &gt; 50 kali dalam 1 menit.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APT Watchlist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Low &amp; Slow APT Correlation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Korelasi recon di Cold Storage dengan exploit di Hot Storage via Greylist.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Rule OT Sabotage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  <a:latin typeface="Segoe UI"/>
                        </a:defRPr>
                      </a:pPr>
                      <a:r>
                        <a:t>Datacenter AC Shutdown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Perintah POWER_OFF / SHUTDOWN hardware pendingin via protokol MQTT.</a:t>
                      </a:r>
                    </a:p>
                  </a:txBody>
                  <a:tcPr>
                    <a:solidFill>
                      <a:srgbClr val="F8F9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06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Bedah Skenario 1 s/d 3: Trafik Normal, DDoS Attack &amp; Impossible Travel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SKENARIO 1: TRAFIK NORMAL</a:t>
            </a:r>
          </a:p>
          <a:p>
            <a:pPr>
              <a:defRPr sz="950" i="1">
                <a:solidFill>
                  <a:srgbClr val="10B981"/>
                </a:solidFill>
                <a:latin typeface="Segoe UI"/>
              </a:defRPr>
            </a:pPr>
            <a:r>
              <a:t>Baseline Operasional Sah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sample_logs/web_access_normal_[1..3].log (Nginx)</a:t>
            </a:r>
            <a:br/>
            <a:r>
              <a:t>• Aktivitas: Karyawan mengakses portal HR, e-commerce, &amp; customer desk pada jam kerja wajar.</a:t>
            </a:r>
            <a:br/>
            <a:r>
              <a:t>• Target Verifikasi: Membuktikan SIEM tidak menghasilkan alarm palsu (False Positive Zero).</a:t>
            </a:r>
            <a:br/>
            <a:r>
              <a:t>• Status SIEM: 0 Alarm Dipicu (Trafik Lolos Normal).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SKENARIO 2: DDOS / BOTNET FLOOD</a:t>
            </a:r>
          </a:p>
          <a:p>
            <a:pPr>
              <a:defRPr sz="950" i="1">
                <a:solidFill>
                  <a:srgbClr val="D97706"/>
                </a:solidFill>
                <a:latin typeface="Segoe UI"/>
              </a:defRPr>
            </a:pPr>
            <a:r>
              <a:t>Memicu Rule 1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sample_logs/nginx_ddos_flood_[1..3].log (HTTP Flood)</a:t>
            </a:r>
            <a:br/>
            <a:r>
              <a:t>• Serangan: IP penyerang (45.33.32.156) membombardir endpoint API &gt; 10 request dalam 10 detik.</a:t>
            </a:r>
            <a:br/>
            <a:r>
              <a:t>• Respon SIEM: Memicu alarm 'DDoS / Botnet' TINGGI.</a:t>
            </a:r>
            <a:br/>
            <a:r>
              <a:t>• Solusi SOC: Memicu Playbook SOAR Isolate Host untuk memutus trafik penyerang.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SKENARIO 3: IMPOSSIBLE TRAVEL</a:t>
            </a:r>
          </a:p>
          <a:p>
            <a:pPr>
              <a:defRPr sz="950" i="1">
                <a:solidFill>
                  <a:srgbClr val="E11D48"/>
                </a:solidFill>
                <a:latin typeface="Segoe UI"/>
              </a:defRPr>
            </a:pPr>
            <a:r>
              <a:t>Memicu Rule 2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sample_logs/vpn_and_gate_access_[1..3].csv (RFID &amp; VPN)</a:t>
            </a:r>
            <a:br/>
            <a:r>
              <a:t>• Anomali: User 'sarah_security' login fisik di Jakarta ID, lalu 1 detik kemudian login VPN dari Frankfurt DE.</a:t>
            </a:r>
            <a:br/>
            <a:r>
              <a:t>• Kecepatan Fisik: Mustahil berpindah ribuan km dalam 1 detik (pembajakan kredensial).</a:t>
            </a:r>
            <a:br/>
            <a:r>
              <a:t>• Respon SIEM: Memicu alarm Kritis &amp; Playbook Suspend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07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Bedah Skenario 4 s/d 6: Brute Force, Exfiltration &amp; Careless Whitelisting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SKENARIO 4: DISTRIBUTED BRUTE FORCE</a:t>
            </a:r>
          </a:p>
          <a:p>
            <a:pPr>
              <a:defRPr sz="950" i="1">
                <a:solidFill>
                  <a:srgbClr val="D97706"/>
                </a:solidFill>
                <a:latin typeface="Segoe UI"/>
              </a:defRPr>
            </a:pPr>
            <a:r>
              <a:t>Memicu Rule 3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sample_logs/auth_sshd_bruteforce_[1..3].log (Syslog RFC 3164)</a:t>
            </a:r>
            <a:br/>
            <a:r>
              <a:t>• Taktik Penyerang: Melancarkan serangan tebak password SSH terdistribusi melalui 4 node Tor / VPS.</a:t>
            </a:r>
            <a:br/>
            <a:r>
              <a:t>• Kriteria SIEM: &gt; 5 kegagalan login untuk 1 user dari &gt; 3 IP berbeda dalam rentang 60 detik.</a:t>
            </a:r>
            <a:br/>
            <a:r>
              <a:t>• Hasil: Alarm 'Distributed Brute Force' berhasil dibunyikan.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SKENARIO 5: DATA EXFILTRATION</a:t>
            </a:r>
          </a:p>
          <a:p>
            <a:pPr>
              <a:defRPr sz="950" i="1">
                <a:solidFill>
                  <a:srgbClr val="E11D48"/>
                </a:solidFill>
                <a:latin typeface="Segoe UI"/>
              </a:defRPr>
            </a:pPr>
            <a:r>
              <a:t>Memicu Rule 5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sample_logs/postgres_audit_exfiltration_[1..3].jsonl (PGAudit)</a:t>
            </a:r>
            <a:br/>
            <a:r>
              <a:t>• Ancaman Insider: Oknum developer (dev_rogue) mendownload data PII nasabah &gt; 50 kali dalam 1 menit.</a:t>
            </a:r>
            <a:br/>
            <a:r>
              <a:t>• Respon SIEM: Deteksi lonjakan volume unduhan data sensitif dan membunyikan alarm KRITIS.</a:t>
            </a:r>
            <a:br/>
            <a:r>
              <a:t>• Mitigasi: Pembatasan akses database &amp; suspend kredensial user.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SKENARIO 6: CARELESS WHITELISTING</a:t>
            </a:r>
          </a:p>
          <a:p>
            <a:pPr>
              <a:defRPr sz="950" i="1">
                <a:solidFill>
                  <a:srgbClr val="7C3AED"/>
                </a:solidFill>
                <a:latin typeface="Segoe UI"/>
              </a:defRPr>
            </a:pPr>
            <a:r>
              <a:t>Demonstrasi Fatal Error &amp; Blind Spot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Konsep Edukasi: Admin memasukkan IP penyerang ke daftar Whitelist (/api/whitelist).</a:t>
            </a:r>
            <a:br/>
            <a:r>
              <a:t>• Dampak: Korelasi engine otomatis MENGABAIKAN log dari IP tersebut (Zero Alert).</a:t>
            </a:r>
            <a:br/>
            <a:r>
              <a:t>• Pembuktian SOC: Menunjukkan risiko fatal whitelisting ceroboh tanpa review keamanan bertingkat.</a:t>
            </a:r>
            <a:br/>
            <a:r>
              <a:t>• Pemulihan: Un-whitelist mengembalikan alarm.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08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Bedah Skenario 7 &amp; 8: Data Cacat &amp; The Low and Slow APT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1B4B"/>
                </a:solidFill>
                <a:latin typeface="Segoe UI"/>
              </a:defRPr>
            </a:pPr>
            <a:r>
              <a:t>SKENARIO 7: DATA CACAT &amp; TIME DRIFT</a:t>
            </a:r>
          </a:p>
          <a:p>
            <a:pPr>
              <a:defRPr sz="1000" i="1">
                <a:solidFill>
                  <a:srgbClr val="D97706"/>
                </a:solidFill>
                <a:latin typeface="Segoe UI"/>
              </a:defRPr>
            </a:pPr>
            <a:r>
              <a:t>Uji Ketahanan Gatekeeper terhadap Log Korup (HTTP 422)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sample_logs/legacy_corrupted_device_[1..3].log</a:t>
            </a:r>
            <a:br/>
            <a:br/>
            <a:r>
              <a:t>• Kasus Uji 1 (Malformed JSON): Data terpotong di tengah transmisi jaringan.</a:t>
            </a:r>
            <a:br/>
            <a:r>
              <a:t>• Kasus Uji 2 (Missing IP): Log telemetri tanpa atribut alamat IP pengirim.</a:t>
            </a:r>
            <a:br/>
            <a:r>
              <a:t>• Kasus Uji 3 (Invalid IP format): Format alamat IP bukan IPv4 desimal valid.</a:t>
            </a:r>
            <a:br/>
            <a:r>
              <a:t>• Kasus Uji 4 (CMOS Battery Reset): Timestamp perangkat lawas reset ke 1970 (&gt; 24 jam lampau).</a:t>
            </a:r>
            <a:br/>
            <a:r>
              <a:t>• Kasus Uji 5 (Future Time Drift): Jam perangkat melompat ke masa depan.</a:t>
            </a:r>
            <a:br/>
            <a:br/>
            <a:r>
              <a:t>✔ Hasil Gatekeeper: 100% data cacat ditolak dengan respons HTTP 422 tanpa menyebabkan server crash.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09728" cy="45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1B4B"/>
                </a:solidFill>
                <a:latin typeface="Segoe UI"/>
              </a:defRPr>
            </a:pPr>
            <a:r>
              <a:t>SKENARIO 8: THE LOW &amp; SLOW APT</a:t>
            </a:r>
          </a:p>
          <a:p>
            <a:pPr>
              <a:defRPr sz="1000" i="1">
                <a:solidFill>
                  <a:srgbClr val="7C3AED"/>
                </a:solidFill>
                <a:latin typeface="Segoe UI"/>
              </a:defRPr>
            </a:pPr>
            <a:r>
              <a:t>Jebakan Hot vs Cold Storage &amp; Solusi Stateful Watchlist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Masalah Arsitektur: Log hanya disimpan di Hot Storage selama 7-14 hari demi efisiensi biaya. Serangan APT berjarak 20 hari lolos karena data awal sudah diarsipkan ke Cold Storage (Temporal Blind Spot).</a:t>
            </a:r>
            <a:br/>
            <a:br/>
            <a:r>
              <a:t>• Alur Serangan Dua Babak:</a:t>
            </a:r>
            <a:br/>
            <a:r>
              <a:t>  - Tanggal 1: Penyerang melakukan Reconnaissance Probe (/api/v1/recon).</a:t>
            </a:r>
            <a:br/>
            <a:r>
              <a:t>  - Tanggal 20: Penyerang meluncurkan Exploit Request.</a:t>
            </a:r>
            <a:br/>
            <a:br/>
            <a:r>
              <a:t>✔ Solusi Mini-SIEM: Begitu recon terdeteksi pada Tanggal 1, IP otomatis dicatat ke Stateful Watchlist (Greylist). Saat exploit tiba di Tanggal 20, alarm APT Kritis dipicu dan riwayat dingin direhidrasi untuk pembuktian forensik.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09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Bedah Skenario 9: OT Hardware Sabotage - AC Central Shutdown (MQTT)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1. KONTEKS HARDWARE OT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Target Fisik: Unit pendingin utama datacenter (CRAC-AC-CENTRAL-01, Chiller Plant, atau PAC In-Row Cooling).</a:t>
            </a:r>
            <a:br/>
            <a:br/>
            <a:r>
              <a:t>• Protokol Komunikasi: MQTT (Message Queuing Telemetry Transport) via broker terhubung ke sensor BMS/SCADA.</a:t>
            </a:r>
            <a:br/>
            <a:br/>
            <a:r>
              <a:t>• Dampak Kegagalan: Jika AC mati mendadak, suhu rak server melonjak drastis memicu thermal runaway (server overheat, mati massal, &amp; kerusakan hardware bernilai miliaran).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2. ALUR REPLAY 2 TAHAP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Pola mirip Skenario 3 (Akses Fisik vs Remote):</a:t>
            </a:r>
            <a:br/>
            <a:br/>
            <a:r>
              <a:t>• Event 1 (Status Monitoring):</a:t>
            </a:r>
            <a:br/>
            <a:r>
              <a:t>  Sensor hardware membaca status telemetri suhu (18.5°C) &amp; perintah STATUS_REPORT via topik MQTT datacenter/cooling/crac01/telemetry -&gt; Diterima normal (False Positive Zero).</a:t>
            </a:r>
            <a:br/>
            <a:br/>
            <a:r>
              <a:t>• Event 2 (Perintah Sabotase):</a:t>
            </a:r>
            <a:br/>
            <a:r>
              <a:t>  Oknum ilegal mengirim perintah POWER_OFF via topik datacenter/cooling/crac01/power.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3. DETEKSI &amp; PERTAHANAN SOAR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Deteksi Mesin SIEM:</a:t>
            </a:r>
            <a:br/>
            <a:r>
              <a:t>  SIEM mengenali protokol MQTT dan jenis hardware pendingin OT, langsung memicu alarm KRITIS: 'OT Sabotage: Datacenter AC Central Shutdown (MQTT)'.</a:t>
            </a:r>
            <a:br/>
            <a:br/>
            <a:r>
              <a:t>• Respons Aktif SOAR:</a:t>
            </a:r>
            <a:br/>
            <a:r>
              <a:t>  Analis mengisolasi IP penyerang (192.168.30.99) via SOAR Host Quarantine. Perintah MQTT sabotase lanjutan langsung di-drop di Gatekeeper (HTTP 403)!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10 / INCIDENT RESPONSE PLAYBOOKS (PRD §3D)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SOAR Active Defense: Network Quarantine &amp; Identity Containment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10058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72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1. Network Quarantine (Isolate Host) — [POST /api/soar/isolate]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Analis mengisolasi IP penyerang langsung dari kartu alert dashboard atau API. Status alert bertransisi menjadi [CONTAINED] dan buffer korelasi aktif dibersihkan untuk mencegah ghost alerts. Seluruh log lanjutan dari IP tersebut ditolak otomatis di Gatekeeper (HTTP 403 HOST_ISOLATED).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109728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15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2. Identity Containment (Suspend User) — [POST /api/soar/suspend-user]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Untuk insiden kredensial terkompromi (seperti Impossible Travel), akun user dibekukan seketika. Setiap percobaan autentikasi atau aktivitas lanjutan yang mengatasnamakan user tersebut ditolak di gerbang Gatekeeper (HTTP 403 USER_SUSPENDED).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972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58767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3. Access Restoration (Release Playbook) — [POST /api/soar/release &amp; unsuspend]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Setelah ancaman dinetralisir dan investigasi forensik selesai, analis dapat melepas status karantina host atau mengaktifkan kembali akun pengguna dengan satu klik tanpa perlu merestart sistem.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92040"/>
            <a:ext cx="109728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01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4. Immutable Audit Trail — [GET /api/soar/audit]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Setiap aksi karantina, pembekuan user, dan pemulihan dicatat secara kronologis dalam jejak audit SOAR (mencakup action, target, alasan analis, dan stempel waktu ISO UTC) untuk akuntabilitas operasional.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11 / GOVERNANCE &amp; AI SAFETY (PRD §6)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Tata Kelola &amp; Arsitektur Pengaman: Human-Supervised AI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201168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0116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1. Concept Drift Poisoning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Penyerang APT menyuntikkan anomali berfrekuensi rendah bertahap (10 -&gt; 500 file/minggu). AI tanpa supervisi menganggap tren ini normal.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201168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2. Self-Inflicted DoS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Aturan adaptif salah mengklasifikasikan lonjakan checkout promo diskon (Flash Sale) sebagai DDoS, melumpuhkan transaksi pelanggan sah.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201168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3. Pelanggaran Audit Kepatuhan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ISO 27001 &amp; PCI-DSS melarang keputusan 'Black-Box' tanpa tiket persetujuan formal dan verifikator penanggung jawab yang jelas.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0698480" cy="246888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4F46E5"/>
                </a:solidFill>
                <a:latin typeface="Segoe UI"/>
              </a:defRPr>
            </a:pPr>
            <a:r>
              <a:t>🏛️ Blueprint Siklus Aman: Dari Deteksi Kasus Baru hingga Implementasi Produksi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1. Gatekeeper Ingest: Validasi skema deterministik (Tolak HTTP 422 jika data rusak)</a:t>
            </a:r>
            <a:br/>
            <a:r>
              <a:t>2. Dead-Letter Queue (DLQ): Payload anomali baru diisolasi ke antrean karantina terpisah tanpa mengganggu pipeline utama</a:t>
            </a:r>
            <a:br/>
            <a:r>
              <a:t>3. AI Suggestion Engine: Sintesis pola klaster anomali dan perumusan 'Candidate Rule' secara terprogram</a:t>
            </a:r>
            <a:br/>
            <a:r>
              <a:t>4. Canary Replay Test: Pengujian regresi aturan pada 30 hari data historis; auto-rollback seketika jika rasio False Positive &gt; 2%</a:t>
            </a:r>
            <a:br/>
            <a:r>
              <a:t>5. HITL Approval (Shadow Mode): Aturan beroperasi dalam mode bayangan hingga Lead Analis SOC mengotorisasi promosi ke produksi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12 / INTEGRATION SYLLABUS (PRD §7)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Prasyarat Integrasi Infrastruktur: Universal Ingestion Syllabus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48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Tahap 1: Fondasi Bahan Baku Log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Anatomi Log: Membedakan Event (kejadian), Payload (isi utama), dan Metadata (keterangan tambahan).</a:t>
            </a:r>
            <a:br/>
            <a:r>
              <a:t>• Log Lifecycle: Titik lahir -&gt; Forwarding -&gt; Queueing -&gt; Hot Storage -&gt; Cold Archive.</a:t>
            </a:r>
            <a:br/>
            <a:r>
              <a:t>• Kalkulasi EPS (Events Per Second): Menghitung beban volume masuk agar mesin korelasi tidak crash.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109728" cy="2148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Tahap 2: Standarisasi Bahasa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Protokol RFC 5424: Format pembungkus Syslog terstandarisasi (Timestamp, Hostname, Severity, Payload).</a:t>
            </a:r>
            <a:br/>
            <a:r>
              <a:t>• Kepatuhan NIST SP 800-92 &amp; ISO 27002: Wajib catat kegagalan login &amp; eskalasi privilese.</a:t>
            </a:r>
            <a:br/>
            <a:r>
              <a:t>• OCSF / CIM Universal Schema: Menyatukan field multi-vendor (SrcIP &amp; Client_Address -&gt; src_endpoint.ip).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57800" cy="21488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9728" cy="2148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8619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Tahap 3: Prasyarat Infrastruktur Jaringan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Sinkronisasi Waktu Sentral (NTP): Syarat mutlak! Seluruh server wajib merujuk waktu atomik UTC yang sama. Deviasi 1s merusak urutan korelasi.</a:t>
            </a:r>
            <a:br/>
            <a:r>
              <a:t>• Log Forwarder Agregator: Menggunakan Logstash/Fluentd terdistribusi di tiap cabang.</a:t>
            </a:r>
            <a:br/>
            <a:r>
              <a:t>• Noise Filtering: Membuang ping rutin internal di level forwarder.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49039"/>
            <a:ext cx="5257800" cy="21488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49039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88619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Segoe UI"/>
              </a:defRPr>
            </a:pPr>
            <a:r>
              <a:t>Tahap 4: Prasyarat Bisnis &amp; Konteks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Asset Management: Klasifikasi kekritisan server inti vs WiFi publik untuk severity proporsional.</a:t>
            </a:r>
            <a:br/>
            <a:r>
              <a:t>• Definisi Use Case: Merumuskan skenario deteksi ancaman sebelum sistem dioperasikan.</a:t>
            </a:r>
            <a:br/>
            <a:r>
              <a:t>• SOP &amp; Eskalasi Bertingkat: Penetapan tim penanggung jawab (Jaringan, Aplikasi, SOC) saat alert kritis terpicu.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13 / STORAGE ARCHITECTURE (PRD §8)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Arsitektur Storage Bertingkat: Hot Storage vs Cold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1B4B"/>
                </a:solidFill>
                <a:latin typeface="Segoe UI"/>
              </a:defRPr>
            </a:pPr>
            <a:r>
              <a:t>⚠️ Limitasi Skalabilitas Linier (The Brute-Force Fallacy)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Asumsi umum: 'Jika peretas menyerang di Hari ke-20, perbesar retensi Hot Storage menjadi 30 atau 90 hari.'</a:t>
            </a:r>
            <a:br/>
            <a:br/>
            <a:r>
              <a:t>Mengapa pendekatan ini gagal di skala perusahaan?</a:t>
            </a:r>
            <a:br/>
            <a:br/>
            <a:r>
              <a:t>1. Biaya Eksponensial: Menyimpan petabyte log mentah di tier RAM/NVMe SSD menaikkan biaya infrastruktur data secara tidak proporsional.</a:t>
            </a:r>
            <a:br/>
            <a:br/>
            <a:r>
              <a:t>2. Degradasi Latensi Kueri: Indeks pencarian yang membengkak menurunkan performa evaluasi aturan korelasi (dari &lt; 10ms menjadi detik/menit).</a:t>
            </a:r>
            <a:br/>
            <a:br/>
            <a:r>
              <a:t>3. Rasio Noise-to-Signal Tinggi: 98% data adalah telemetri rutin; mengalokasikan tier premium untuk data non-kritis memboroskan anggaran.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09728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1B4B"/>
                </a:solidFill>
                <a:latin typeface="Segoe UI"/>
              </a:defRPr>
            </a:pPr>
            <a:r>
              <a:t>✔ Dua Solusi Arsitektural Mini-SIEM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1. Stateful Entity Tracking (Lightweight Memory):</a:t>
            </a:r>
            <a:br/>
            <a:r>
              <a:t>• Alih-alih menahan puluhan gigabyte log mentah, SIEM hanya menyimpan satu baris JSON status di tabel persisten:</a:t>
            </a:r>
            <a:br/>
            <a:r>
              <a:t>  {"ip": "198.51.100.77", "risk": "HIGH", "score": 85, "reason": "recon_day_1"}</a:t>
            </a:r>
            <a:br/>
            <a:r>
              <a:t>• Jejak memori minimal ini dipertahankan lintas siklus retensi untuk dicocokkan saat entitas aktif kembali di Hari ke-20.</a:t>
            </a:r>
            <a:br/>
            <a:br/>
            <a:r>
              <a:t>2. Cold Log Rehydration (On-Demand Forensic):</a:t>
            </a:r>
            <a:br/>
            <a:r>
              <a:t>• Saat ancaman terverifikasi di Hari ke-20, sistem secara terarah mengekstraksi paket log historis dari arsip dingin:</a:t>
            </a:r>
            <a:br/>
            <a:r>
              <a:t>  cold_s3://logs/{yyyy}/{mm}/{dd}/{ip_hash}/</a:t>
            </a:r>
            <a:br/>
            <a:r>
              <a:t>• Log ditarik kembali ke memori aktif analis untuk rekonstruksi linimasa serangan (Kill Chain) tanpa full-table scan.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14 / PRODUCT ROADMAP (PRD §9)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Roadmap Ekosistem SIEM &amp; Matriks PM 13 Fitur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246888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468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1B4B"/>
                </a:solidFill>
                <a:latin typeface="Segoe UI"/>
              </a:defRPr>
            </a:pPr>
            <a:r>
              <a:t>MVP v1: Foundation (Fitur 1 - 6)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1. Log Ingestion Engine (Critical)</a:t>
            </a:r>
            <a:br/>
            <a:r>
              <a:t>• 2. Data Parsing &amp; Normalization (Critical)</a:t>
            </a:r>
            <a:br/>
            <a:r>
              <a:t>• 3. Hot Storage &amp; Indexing (Critical)</a:t>
            </a:r>
            <a:br/>
            <a:r>
              <a:t>• 4. Search &amp; Query Interface (High)</a:t>
            </a:r>
            <a:br/>
            <a:r>
              <a:t>• 5. Rule-Based Alerting (High)</a:t>
            </a:r>
            <a:br/>
            <a:r>
              <a:t>• 6. Basic Dashboard &amp; Reporting (Medium)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246888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468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1B4B"/>
                </a:solidFill>
                <a:latin typeface="Segoe UI"/>
              </a:defRPr>
            </a:pPr>
            <a:r>
              <a:t>Phase 2: Intelligence (Fitur 7 - 10)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7. Correlation Engine (High - Stateful)</a:t>
            </a:r>
            <a:br/>
            <a:r>
              <a:t>• 8. Threat Intel Integration (High - IoC)</a:t>
            </a:r>
            <a:br/>
            <a:r>
              <a:t>• 9. Incident &amp; Case Management (Medium)</a:t>
            </a:r>
            <a:br/>
            <a:r>
              <a:t>• 10. Cold Storage / Archiving (Medium - Retensi 1-7 Tahun)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246888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468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1B4B"/>
                </a:solidFill>
                <a:latin typeface="Segoe UI"/>
              </a:defRPr>
            </a:pPr>
            <a:r>
              <a:t>Phase 3: Advanced (Fitur 11 - 13)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11. UEBA (High - Behavioral ML Model)</a:t>
            </a:r>
            <a:br/>
            <a:r>
              <a:t>• 12. SOAR (High - Automated Playbook)</a:t>
            </a:r>
            <a:br/>
            <a:r>
              <a:t>• 13. AI Adaptive Rule Generator (High - DLQ, Canary Replay, &amp; HITL Approval)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  <a:latin typeface="Segoe UI"/>
              </a:defRPr>
            </a:pPr>
            <a:r>
              <a:t>💡 Tiga Prinsip Rantai Dependensi Manajemen Produk (PM Logic)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1. Fondasi Data Sebelum Analitik Lanjut: Ingestion, Normalisasi, dan Penyimpanan Hot Storage harus stabil sebelum mengaktifkan UEBA. Tanpa data historis terstandarisasi, model perilaku tidak memiliki baseline yang andal.</a:t>
            </a:r>
            <a:br/>
            <a:br/>
            <a:r>
              <a:t>2. Pengendalian Risiko Sebelum Otomasi Penuh: SOAR diimplementasikan pada Phase 3 setelah Case Management dan Threat Intel matang. Mitigasi otomatis tanpa akurasi tinggi berisiko memblokir trafik operasional yang sah.</a:t>
            </a:r>
            <a:br/>
            <a:br/>
            <a:r>
              <a:t>3. Keseimbangan Performa &amp; Efisiensi Biaya: Pemisahan Hot Storage (Phase 1) dan Cold Archive (Phase 2) menjaga performa korelasi real-time tetap optimal sekaligus mengendalikan biaya penyimpanan jangka panjang.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3F4FA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  <a:latin typeface="Segoe UI"/>
              </a:defRPr>
            </a:pPr>
            <a:r>
              <a:t>15 / QA &amp; CONCLUSION (PRD 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  <a:latin typeface="Segoe UI"/>
              </a:defRPr>
            </a:pPr>
            <a:r>
              <a:t>Verifikasi Kualitas (29 Tests Passed) &amp; Kesimpulan Strategis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5: Modern Studio Clean (Linear / Stripe UI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✔ PYTEST STATUS: 29 PASSED (100% SUCCESS RATE IN 2.06s)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Rangkaian pengujian otomatis end-to-end mencakup validasi skema negatif, aturan korelasi sliding window, siklus hidup SOAR, dan skenario OT MQTT.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7772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Segoe UI"/>
              </a:defRPr>
            </a:pPr>
            <a:r>
              <a:t>1. Keandalan Gatekeeper Terbukti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Validasi ketat kontrak skema data dan audit time drift mencegah polusi data telemetri sebelum masuk ke mesin korelasi.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47872"/>
            <a:ext cx="10698480" cy="7772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47872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2102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Segoe UI"/>
              </a:defRPr>
            </a:pPr>
            <a:r>
              <a:t>2. Deteksi Multi-Vektor Lengkap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Mencakup spektrum serangan siber modern: DDoS L7, anomali identitas fisik vs remote, eksfiltrasi database, ancaman APT lintas waktu, hingga sabotase fisik OT/IoT.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43983"/>
            <a:ext cx="10698480" cy="7772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43983"/>
            <a:ext cx="10972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5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Segoe UI"/>
              </a:defRPr>
            </a:pPr>
            <a:r>
              <a:t>3. SOAR Active Defense Menghentikan Serangan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SOC tidak hanya pasif memantau grafik melainkan mampu melakukan Network Quarantine dan User Suspension secara real-time di level Gatekeeper.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40096"/>
            <a:ext cx="10698480" cy="777240"/>
          </a:xfrm>
          <a:prstGeom prst="roundRect">
            <a:avLst/>
          </a:prstGeom>
          <a:solidFill>
            <a:srgbClr val="F8F9FE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40096"/>
            <a:ext cx="109728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13248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Segoe UI"/>
              </a:defRPr>
            </a:pPr>
            <a:r>
              <a:t>4. Rekomendasi Skalabilitas Produksi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Migrasi in-memory stateful store ke Redis/Kafka untuk ingestion jutaan event per detik, integrasi LLM Agent untuk playbook auto-remediation, dan ekspansi protokol OT (Modbus, BACnet).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
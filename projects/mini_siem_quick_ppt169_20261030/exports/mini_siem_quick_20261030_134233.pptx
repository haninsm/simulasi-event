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id-ID"/>
    </a:defPPr>
    <a:lvl1pPr marL="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-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_siem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_siem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-ID" smtClean="0"/>
              <a:t>1/27/13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-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-ID" smtClean="0"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id-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id-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id-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19" name="hero-card"/>
          <p:cNvGrpSpPr/>
          <p:nvPr/>
        </p:nvGrpSpPr>
        <p:grpSpPr>
          <a:xfrm>
            <a:off x="685800" y="571500"/>
            <a:ext cx="10820400" cy="5715000"/>
            <a:chOff x="685800" y="571500"/>
            <a:chExt cx="10820400" cy="5715000"/>
          </a:xfrm>
        </p:grpSpPr>
        <p:sp>
          <p:nvSpPr>
            <p:cNvPr id="3" name="Rectangle 3"/>
            <p:cNvSpPr/>
            <p:nvPr/>
          </p:nvSpPr>
          <p:spPr>
            <a:xfrm>
              <a:off x="685800" y="571500"/>
              <a:ext cx="10820400" cy="57150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" y="571500"/>
              <a:ext cx="114300" cy="5715000"/>
            </a:xfrm>
            <a:prstGeom prst="roundRect">
              <a:avLst>
                <a:gd name="adj" fmla="val 33333"/>
              </a:avLst>
            </a:prstGeom>
            <a:solidFill>
              <a:srgbClr val="1E3A8A"/>
            </a:solidFill>
            <a:ln>
              <a:noFill/>
            </a:ln>
          </p:spPr>
        </p:sp>
        <p:grpSp>
          <p:nvGrpSpPr>
            <p:cNvPr id="18" name="cover-text"/>
            <p:cNvGrpSpPr/>
            <p:nvPr/>
          </p:nvGrpSpPr>
          <p:grpSpPr>
            <a:xfrm>
              <a:off x="1126236" y="1047750"/>
              <a:ext cx="9351264" cy="3714750"/>
              <a:chOff x="1126236" y="1047750"/>
              <a:chExt cx="9351264" cy="37147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1143000" y="1047750"/>
                <a:ext cx="3429000" cy="285750"/>
              </a:xfrm>
              <a:prstGeom prst="roundRect">
                <a:avLst>
                  <a:gd name="adj" fmla="val 13333"/>
                </a:avLst>
              </a:prstGeom>
              <a:solidFill>
                <a:srgbClr val="EFF6FF"/>
              </a:solidFill>
              <a:ln w="9525">
                <a:solidFill>
                  <a:srgbClr val="BFDBFE"/>
                </a:solidFill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271588" y="1123950"/>
                <a:ext cx="259593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b="1" dirty="0">
                    <a:solidFill>
                      <a:srgbClr val="1D4ED8"/>
                    </a:solidFill>
                    <a:latin typeface="+mn-lt"/>
                    <a:ea typeface="+mn-ea"/>
                    <a:cs typeface="+mn-cs"/>
                  </a:rPr>
                  <a:t>ENTERPRISE CYBERSECURITY SIMULATION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26236" y="1403350"/>
                <a:ext cx="6090053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330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Mini-SIEM Command Center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5380" y="2047875"/>
                <a:ext cx="512289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500" b="1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Security Information &amp; Event Management Simulator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7285" y="2527300"/>
                <a:ext cx="61357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12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Platform Telemetri Heterogen Real-Time, Gatekeeper RFC Validation, SOAR Active Defense,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7285" y="2765425"/>
                <a:ext cx="59015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112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Human-Supervised AI Adaptation &amp; Korelasi 9 Skenario Insiden Siber dan OT Hardware.</a:t>
                </a:r>
              </a:p>
            </p:txBody>
          </p:sp>
          <p:grpSp>
            <p:nvGrpSpPr>
              <p:cNvPr id="17" name="meta-box"/>
              <p:cNvGrpSpPr/>
              <p:nvPr/>
            </p:nvGrpSpPr>
            <p:grpSpPr>
              <a:xfrm>
                <a:off x="1143000" y="3333750"/>
                <a:ext cx="9334500" cy="1428750"/>
                <a:chOff x="1143000" y="3333750"/>
                <a:chExt cx="9334500" cy="1428750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1143000" y="3333750"/>
                  <a:ext cx="9334500" cy="1428750"/>
                </a:xfrm>
                <a:prstGeom prst="roundRect">
                  <a:avLst>
                    <a:gd name="adj" fmla="val 5333"/>
                  </a:avLst>
                </a:prstGeom>
                <a:solidFill>
                  <a:srgbClr val="F8FAFC"/>
                </a:solidFill>
                <a:ln w="9525">
                  <a:solidFill>
                    <a:srgbClr val="E2E8F0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366647" y="3530600"/>
                  <a:ext cx="2680397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id-ID" sz="980" b="1" dirty="0">
                      <a:solidFill>
                        <a:srgbClr val="1E3A8A"/>
                      </a:solidFill>
                      <a:latin typeface="+mn-lt"/>
                      <a:ea typeface="+mn-ea"/>
                      <a:cs typeface="+mn-cs"/>
                    </a:rPr>
                    <a:t>DOKUMEN INDUK &amp; TIM PENGEMBANG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366647" y="3778250"/>
                  <a:ext cx="5748892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84645" indent="-84645">
                    <a:buClr>
                      <a:srgbClr val="334155"/>
                    </a:buClr>
                    <a:buSzTx/>
                    <a:buFontTx/>
                    <a:buChar char="•"/>
                  </a:pPr>
                  <a:r>
                    <a:rPr lang="id-ID" sz="98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Dokumen Sumber: mini_siem_product_requirements_document.md (V2.2 Enterprise SOC Edition)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366647" y="4006850"/>
                  <a:ext cx="6106139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84645" indent="-84645">
                    <a:buClr>
                      <a:srgbClr val="334155"/>
                    </a:buClr>
                    <a:buSzTx/>
                    <a:buFontTx/>
                    <a:buChar char="•"/>
                  </a:pPr>
                  <a:r>
                    <a:rPr lang="id-ID" sz="98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Tim Pengembang: JadiBegini (Bagus Hanindyo Kusuma, Anand Ferdiansyah, Fitus Yayan Ofnaio Zebua)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366647" y="4235450"/>
                  <a:ext cx="5274252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84645" indent="-84645">
                    <a:buClr>
                      <a:srgbClr val="334155"/>
                    </a:buClr>
                    <a:buSzTx/>
                    <a:buFontTx/>
                    <a:buChar char="•"/>
                  </a:pPr>
                  <a:r>
                    <a:rPr lang="id-ID" sz="98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Standard Compliance: ISO 27001, NIST SP 800-92, RFC 5424, OCSF Universal Taxonomy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366647" y="4445000"/>
                  <a:ext cx="5389785" cy="1916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 marL="84645" indent="-84645">
                    <a:buClr>
                      <a:srgbClr val="334155"/>
                    </a:buClr>
                    <a:buSzTx/>
                    <a:buFontTx/>
                    <a:buChar char="•"/>
                  </a:pPr>
                  <a:r>
                    <a:rPr lang="id-ID" sz="980" dirty="0">
                      <a:solidFill>
                        <a:srgbClr val="334155"/>
                      </a:solidFill>
                      <a:latin typeface="+mn-lt"/>
                      <a:ea typeface="+mn-ea"/>
                      <a:cs typeface="+mn-cs"/>
                    </a:rPr>
                    <a:t>Arsitektur Stack: Python 3.11, FastAPI, Pydantic V2, MQTT Broker, SOAR Dynamic Isolation</a:t>
                  </a:r>
                </a:p>
              </p:txBody>
            </p:sp>
          </p:grpSp>
        </p:grpSp>
      </p:grpSp>
      <p:grpSp>
        <p:nvGrpSpPr>
          <p:cNvPr id="22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20" name="Line 20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5638225" cy="802259"/>
            <a:chOff x="676656" y="304800"/>
            <a:chExt cx="5638225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066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01 / RINGKASAN PRODUK (PRD §1.1)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53782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 Nilai Strategis &amp; Solusi Ekosistem Mini-SIEM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5634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Arsitektur pertahanan aktif hulu-ke-hilir untuk keamanan perimeter, identitas, dan fasilitas.</a:t>
              </a:r>
            </a:p>
          </p:txBody>
        </p:sp>
      </p:grpSp>
      <p:grpSp>
        <p:nvGrpSpPr>
          <p:cNvPr id="15" name="card-1"/>
          <p:cNvGrpSpPr/>
          <p:nvPr/>
        </p:nvGrpSpPr>
        <p:grpSpPr>
          <a:xfrm>
            <a:off x="685800" y="1285875"/>
            <a:ext cx="3476625" cy="2238375"/>
            <a:chOff x="685800" y="1285875"/>
            <a:chExt cx="3476625" cy="2238375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9254" y="1476375"/>
              <a:ext cx="1830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Gatekeeper Ingestion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0588" y="17811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0284C7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0397" y="2111375"/>
              <a:ext cx="23857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Normalisasi kontrak JSON kanonikal dari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0397" y="2339975"/>
              <a:ext cx="25697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beragam sumber log mentah. Menolak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0397" y="2568575"/>
              <a:ext cx="20132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cacat dan clock drift via HTTP 422.</a:t>
              </a:r>
            </a:p>
          </p:txBody>
        </p:sp>
      </p:grpSp>
      <p:grpSp>
        <p:nvGrpSpPr>
          <p:cNvPr id="24" name="card-2"/>
          <p:cNvGrpSpPr/>
          <p:nvPr/>
        </p:nvGrpSpPr>
        <p:grpSpPr>
          <a:xfrm>
            <a:off x="4400550" y="1285875"/>
            <a:ext cx="3476625" cy="2238375"/>
            <a:chOff x="4400550" y="1285875"/>
            <a:chExt cx="3476625" cy="2238375"/>
          </a:xfrm>
        </p:grpSpPr>
        <p:sp>
          <p:nvSpPr>
            <p:cNvPr id="16" name="Rectangle 16"/>
            <p:cNvSpPr/>
            <p:nvPr/>
          </p:nvSpPr>
          <p:spPr>
            <a:xfrm>
              <a:off x="4400550" y="12858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00550" y="12858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04004" y="1476375"/>
              <a:ext cx="2003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Rule Correlation Engine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5338" y="17811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5147" y="2111375"/>
              <a:ext cx="22165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Mesin korelasi sliding window stateful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5147" y="2339975"/>
              <a:ext cx="24328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di memori mendeteksi serangan L7, brute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5147" y="2568575"/>
              <a:ext cx="21712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force, insider threat, dan anomali jam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5147" y="2797175"/>
              <a:ext cx="3180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kerja.</a:t>
              </a:r>
            </a:p>
          </p:txBody>
        </p:sp>
      </p:grpSp>
      <p:grpSp>
        <p:nvGrpSpPr>
          <p:cNvPr id="32" name="card-3"/>
          <p:cNvGrpSpPr/>
          <p:nvPr/>
        </p:nvGrpSpPr>
        <p:grpSpPr>
          <a:xfrm>
            <a:off x="8115300" y="1285875"/>
            <a:ext cx="3476625" cy="2238375"/>
            <a:chOff x="8115300" y="1285875"/>
            <a:chExt cx="3476625" cy="2238375"/>
          </a:xfrm>
        </p:grpSpPr>
        <p:sp>
          <p:nvSpPr>
            <p:cNvPr id="25" name="Rectangle 25"/>
            <p:cNvSpPr/>
            <p:nvPr/>
          </p:nvSpPr>
          <p:spPr>
            <a:xfrm>
              <a:off x="8115300" y="12858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15300" y="12858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18754" y="1476375"/>
              <a:ext cx="1837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SOAR Active Defense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0088" y="17811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9897" y="2111375"/>
              <a:ext cx="23926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Respons insiden aktif memutus serangan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9897" y="2339975"/>
              <a:ext cx="21195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di gerbang: Host Quarantine &amp; User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9897" y="2568575"/>
              <a:ext cx="24088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Suspension menolak paket via HTTP 403.</a:t>
              </a:r>
            </a:p>
          </p:txBody>
        </p:sp>
      </p:grpSp>
      <p:grpSp>
        <p:nvGrpSpPr>
          <p:cNvPr id="41" name="card-4"/>
          <p:cNvGrpSpPr/>
          <p:nvPr/>
        </p:nvGrpSpPr>
        <p:grpSpPr>
          <a:xfrm>
            <a:off x="685800" y="3762375"/>
            <a:ext cx="3476625" cy="2238375"/>
            <a:chOff x="685800" y="3762375"/>
            <a:chExt cx="3476625" cy="2238375"/>
          </a:xfrm>
        </p:grpSpPr>
        <p:sp>
          <p:nvSpPr>
            <p:cNvPr id="33" name="Rectangle 33"/>
            <p:cNvSpPr/>
            <p:nvPr/>
          </p:nvSpPr>
          <p:spPr>
            <a:xfrm>
              <a:off x="685800" y="37623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37623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9254" y="3952875"/>
              <a:ext cx="2217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Hot vs Cold Storage (APT)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0588" y="42576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0397" y="4587875"/>
              <a:ext cx="23736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Mengatasi temporal blind spot serangan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0397" y="4816475"/>
              <a:ext cx="21197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berjarak puluhan hari menggunakan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0397" y="5045075"/>
              <a:ext cx="179123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Persistent Stateful Greylist dan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397" y="5273675"/>
              <a:ext cx="10363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rehidrasi forensik.</a:t>
              </a:r>
            </a:p>
          </p:txBody>
        </p:sp>
      </p:grpSp>
      <p:grpSp>
        <p:nvGrpSpPr>
          <p:cNvPr id="49" name="card-5"/>
          <p:cNvGrpSpPr/>
          <p:nvPr/>
        </p:nvGrpSpPr>
        <p:grpSpPr>
          <a:xfrm>
            <a:off x="4400550" y="3762375"/>
            <a:ext cx="3476625" cy="2238375"/>
            <a:chOff x="4400550" y="3762375"/>
            <a:chExt cx="3476625" cy="2238375"/>
          </a:xfrm>
        </p:grpSpPr>
        <p:sp>
          <p:nvSpPr>
            <p:cNvPr id="42" name="Rectangle 42"/>
            <p:cNvSpPr/>
            <p:nvPr/>
          </p:nvSpPr>
          <p:spPr>
            <a:xfrm>
              <a:off x="4400550" y="37623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00550" y="37623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04004" y="3952875"/>
              <a:ext cx="18995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5. Universal Log Adapter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05338" y="42576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5147" y="4587875"/>
              <a:ext cx="21780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Membaca 27 berkas log fisik autentik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05147" y="4816475"/>
              <a:ext cx="21783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(Nginx, Syslog, CSV, PGAudit JSONL,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05147" y="5045075"/>
              <a:ext cx="2540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MQTT) dengan timestamp shifting dinamis.</a:t>
              </a:r>
            </a:p>
          </p:txBody>
        </p:sp>
      </p:grpSp>
      <p:grpSp>
        <p:nvGrpSpPr>
          <p:cNvPr id="58" name="card-6"/>
          <p:cNvGrpSpPr/>
          <p:nvPr/>
        </p:nvGrpSpPr>
        <p:grpSpPr>
          <a:xfrm>
            <a:off x="8115300" y="3762375"/>
            <a:ext cx="3476625" cy="2238375"/>
            <a:chOff x="8115300" y="3762375"/>
            <a:chExt cx="3476625" cy="2238375"/>
          </a:xfrm>
        </p:grpSpPr>
        <p:sp>
          <p:nvSpPr>
            <p:cNvPr id="50" name="Rectangle 50"/>
            <p:cNvSpPr/>
            <p:nvPr/>
          </p:nvSpPr>
          <p:spPr>
            <a:xfrm>
              <a:off x="8115300" y="3762375"/>
              <a:ext cx="3476625" cy="2238375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115300" y="3762375"/>
              <a:ext cx="57150" cy="2238375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18754" y="3952875"/>
              <a:ext cx="2132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6. OT Hardware Monitoring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20088" y="4257675"/>
              <a:ext cx="1503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ENTERPRISE CAPABILITY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19897" y="4587875"/>
              <a:ext cx="23466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Memonitor telemetri sensor dan kontrol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19897" y="4816475"/>
              <a:ext cx="18721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hardware fasilitas datacenter via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19897" y="5045075"/>
              <a:ext cx="24807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protokol MQTT untuk mencegah sabotase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19897" y="5273675"/>
              <a:ext cx="4854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thermal.</a:t>
              </a:r>
            </a:p>
          </p:txBody>
        </p:sp>
      </p:grpSp>
      <p:grpSp>
        <p:nvGrpSpPr>
          <p:cNvPr id="61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59" name="Line 59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051239" cy="802259"/>
            <a:chOff x="676656" y="304800"/>
            <a:chExt cx="6051239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1922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02 / ARSITEKTUR SISTEM (PRD §3 &amp; §5)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4453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Arsitektur 5-Layer Pipeline End-to-End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047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Alur telemetri heterogen dari sensor fisik, normalisasi data, korelasi stateful, hingga respons aktif.</a:t>
              </a:r>
            </a:p>
          </p:txBody>
        </p:sp>
      </p:grpSp>
      <p:grpSp>
        <p:nvGrpSpPr>
          <p:cNvPr id="12" name="layer-1"/>
          <p:cNvGrpSpPr/>
          <p:nvPr/>
        </p:nvGrpSpPr>
        <p:grpSpPr>
          <a:xfrm>
            <a:off x="685800" y="1285875"/>
            <a:ext cx="10820400" cy="876300"/>
            <a:chOff x="685800" y="1285875"/>
            <a:chExt cx="10820400" cy="8763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108204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685" y="1431925"/>
              <a:ext cx="2091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Layer 1: Telemetri Heterogen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447" y="1692275"/>
              <a:ext cx="99463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Web Servers (Nginx), SSH Auth (Syslog RFC 3164), Access Gate (CSV), DB Audit (PGAudit JSONL), &amp; Hardware OT (MQTT Broker). 27 berkas log autentik di sample_logs/.</a:t>
              </a:r>
            </a:p>
          </p:txBody>
        </p:sp>
      </p:grpSp>
      <p:grpSp>
        <p:nvGrpSpPr>
          <p:cNvPr id="17" name="layer-2"/>
          <p:cNvGrpSpPr/>
          <p:nvPr/>
        </p:nvGrpSpPr>
        <p:grpSpPr>
          <a:xfrm>
            <a:off x="685800" y="2286000"/>
            <a:ext cx="10820400" cy="876300"/>
            <a:chOff x="685800" y="2286000"/>
            <a:chExt cx="10820400" cy="876300"/>
          </a:xfrm>
        </p:grpSpPr>
        <p:sp>
          <p:nvSpPr>
            <p:cNvPr id="13" name="Rectangle 13"/>
            <p:cNvSpPr/>
            <p:nvPr/>
          </p:nvSpPr>
          <p:spPr>
            <a:xfrm>
              <a:off x="685800" y="2286000"/>
              <a:ext cx="108204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228600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8685" y="2432050"/>
              <a:ext cx="220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Layer 2: Universal Log Adapter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447" y="2692400"/>
              <a:ext cx="90876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app/log_adapter.py: Regex parser multi-format mengonversi log mentah ke kontrak kanonikal LogEvent secara dinamis relatif terhadap waktu nyata NOW().</a:t>
              </a:r>
            </a:p>
          </p:txBody>
        </p:sp>
      </p:grpSp>
      <p:grpSp>
        <p:nvGrpSpPr>
          <p:cNvPr id="22" name="layer-3"/>
          <p:cNvGrpSpPr/>
          <p:nvPr/>
        </p:nvGrpSpPr>
        <p:grpSpPr>
          <a:xfrm>
            <a:off x="685800" y="3286125"/>
            <a:ext cx="10820400" cy="876300"/>
            <a:chOff x="685800" y="3286125"/>
            <a:chExt cx="108204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85800" y="3286125"/>
              <a:ext cx="108204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286125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685" y="3432175"/>
              <a:ext cx="2963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Layer 3: Gatekeeper &amp; Schema Validation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447" y="3692525"/>
              <a:ext cx="95790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app/main.py: Pydantic V2 schema validation, IPv4 format check, Time Drift verification (&lt;24h). SOAR check: isolated host &amp; suspended user -&gt; HTTP 403 Forbidden.</a:t>
              </a:r>
            </a:p>
          </p:txBody>
        </p:sp>
      </p:grpSp>
      <p:grpSp>
        <p:nvGrpSpPr>
          <p:cNvPr id="27" name="layer-4"/>
          <p:cNvGrpSpPr/>
          <p:nvPr/>
        </p:nvGrpSpPr>
        <p:grpSpPr>
          <a:xfrm>
            <a:off x="685800" y="4286250"/>
            <a:ext cx="10820400" cy="876300"/>
            <a:chOff x="685800" y="4286250"/>
            <a:chExt cx="10820400" cy="876300"/>
          </a:xfrm>
        </p:grpSpPr>
        <p:sp>
          <p:nvSpPr>
            <p:cNvPr id="23" name="Rectangle 23"/>
            <p:cNvSpPr/>
            <p:nvPr/>
          </p:nvSpPr>
          <p:spPr>
            <a:xfrm>
              <a:off x="685800" y="4286250"/>
              <a:ext cx="108204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" y="4286250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685" y="4432300"/>
              <a:ext cx="2774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Layer 4: Correlation Engine (The Brain)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447" y="4692650"/>
              <a:ext cx="83798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app/engine.py: Stateful in-memory sliding windows (10s, 60s, 1h), debouncing alert cooldown, Stateful Watchlist APT, dan korelasi sabotase OT.</a:t>
              </a:r>
            </a:p>
          </p:txBody>
        </p:sp>
      </p:grpSp>
      <p:grpSp>
        <p:nvGrpSpPr>
          <p:cNvPr id="32" name="layer-5"/>
          <p:cNvGrpSpPr/>
          <p:nvPr/>
        </p:nvGrpSpPr>
        <p:grpSpPr>
          <a:xfrm>
            <a:off x="685800" y="5286375"/>
            <a:ext cx="10820400" cy="876300"/>
            <a:chOff x="685800" y="5286375"/>
            <a:chExt cx="10820400" cy="876300"/>
          </a:xfrm>
        </p:grpSpPr>
        <p:sp>
          <p:nvSpPr>
            <p:cNvPr id="28" name="Rectangle 28"/>
            <p:cNvSpPr/>
            <p:nvPr/>
          </p:nvSpPr>
          <p:spPr>
            <a:xfrm>
              <a:off x="685800" y="5286375"/>
              <a:ext cx="108204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5800" y="5286375"/>
              <a:ext cx="76200" cy="8763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685" y="5432425"/>
              <a:ext cx="27842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Layer 5: Storage &amp; SOC Active Console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447" y="5692775"/>
              <a:ext cx="90519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Hot In-Memory Cache (5000 logs, 1000 alerts) + Cold Storage Archive. Dashboard web cyberpunk real-time (polling 2 detik) + SOAR Active Defense Panel.</a:t>
              </a:r>
            </a:p>
          </p:txBody>
        </p:sp>
      </p:grpSp>
      <p:grpSp>
        <p:nvGrpSpPr>
          <p:cNvPr id="35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33" name="Line 33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110352" cy="802259"/>
            <a:chOff x="676656" y="304800"/>
            <a:chExt cx="6110352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9143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03 / KONTRAK DATA &amp; GATEKEEPER (PRD §2 &amp; §3A)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5931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Spesifikasi Kontrak Kanonikal &amp; Ketahanan Validasi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106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Standarisasi payload log dan 5 pemeriksaan ketat untuk menolak data cacat di gerbang ingestion.</a:t>
              </a:r>
            </a:p>
          </p:txBody>
        </p:sp>
      </p:grpSp>
      <p:grpSp>
        <p:nvGrpSpPr>
          <p:cNvPr id="26" name="contract-card"/>
          <p:cNvGrpSpPr/>
          <p:nvPr/>
        </p:nvGrpSpPr>
        <p:grpSpPr>
          <a:xfrm>
            <a:off x="685800" y="1285875"/>
            <a:ext cx="5238750" cy="4953000"/>
            <a:chOff x="685800" y="1285875"/>
            <a:chExt cx="5238750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52387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5238750" cy="400050"/>
            </a:xfrm>
            <a:prstGeom prst="roundRect">
              <a:avLst>
                <a:gd name="adj" fmla="val 19048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585" y="1403350"/>
              <a:ext cx="2514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Canonical JSON Schema (Contract)</a:t>
              </a:r>
            </a:p>
          </p:txBody>
        </p:sp>
        <p:grpSp>
          <p:nvGrpSpPr>
            <p:cNvPr id="25" name="code-block"/>
            <p:cNvGrpSpPr/>
            <p:nvPr/>
          </p:nvGrpSpPr>
          <p:grpSpPr>
            <a:xfrm>
              <a:off x="871538" y="1946275"/>
              <a:ext cx="2941549" cy="2843212"/>
              <a:chOff x="871538" y="1946275"/>
              <a:chExt cx="2941549" cy="284321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71538" y="194627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F172A"/>
                    </a:solidFill>
                    <a:latin typeface="Consolas"/>
                    <a:ea typeface="Consolas"/>
                    <a:cs typeface="Consolas"/>
                  </a:rPr>
                  <a:t>{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1538" y="2136775"/>
                <a:ext cx="243314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2563EB"/>
                    </a:solidFill>
                    <a:latin typeface="Consolas"/>
                    <a:ea typeface="Consolas"/>
                    <a:cs typeface="Consolas"/>
                  </a:rPr>
                  <a:t>"timestamp": "2026-10-30T10:15:00Z",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1538" y="2327275"/>
                <a:ext cx="294154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2563EB"/>
                    </a:solidFill>
                    <a:latin typeface="Consolas"/>
                    <a:ea typeface="Consolas"/>
                    <a:cs typeface="Consolas"/>
                  </a:rPr>
                  <a:t>"event_type": "login_attempt | web_request |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1538" y="2517775"/>
                <a:ext cx="220854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2563EB"/>
                    </a:solidFill>
                    <a:latin typeface="Consolas"/>
                    <a:ea typeface="Consolas"/>
                    <a:cs typeface="Consolas"/>
                  </a:rPr>
                  <a:t>database_download | recon_probe |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71538" y="2708275"/>
                <a:ext cx="18087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2563EB"/>
                    </a:solidFill>
                    <a:latin typeface="Consolas"/>
                    <a:ea typeface="Consolas"/>
                    <a:cs typeface="Consolas"/>
                  </a:rPr>
                  <a:t>ot_command | mqtt_command",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1538" y="2946400"/>
                <a:ext cx="18753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59669"/>
                    </a:solidFill>
                    <a:latin typeface="Consolas"/>
                    <a:ea typeface="Consolas"/>
                    <a:cs typeface="Consolas"/>
                  </a:rPr>
                  <a:t>"user_id": "sarah_security",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1538" y="3136900"/>
                <a:ext cx="200863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59669"/>
                    </a:solidFill>
                    <a:latin typeface="Consolas"/>
                    <a:ea typeface="Consolas"/>
                    <a:cs typeface="Consolas"/>
                  </a:rPr>
                  <a:t>"ip_address": "192.168.1.100",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71538" y="3327400"/>
                <a:ext cx="175939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59669"/>
                    </a:solidFill>
                    <a:latin typeface="Consolas"/>
                    <a:ea typeface="Consolas"/>
                    <a:cs typeface="Consolas"/>
                  </a:rPr>
                  <a:t>"location": "Jakarta, ID",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71538" y="3517900"/>
                <a:ext cx="19419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59669"/>
                    </a:solidFill>
                    <a:latin typeface="Consolas"/>
                    <a:ea typeface="Consolas"/>
                    <a:cs typeface="Consolas"/>
                  </a:rPr>
                  <a:t>"status": "success | failed",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1538" y="3803650"/>
                <a:ext cx="29027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D97706"/>
                    </a:solidFill>
                    <a:latin typeface="Consolas"/>
                    <a:ea typeface="Consolas"/>
                    <a:cs typeface="Consolas"/>
                  </a:rPr>
                  <a:t>// Metadata Opsional Telemetri Hardware OT: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71538" y="3994150"/>
                <a:ext cx="12995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D97706"/>
                    </a:solidFill>
                    <a:latin typeface="Consolas"/>
                    <a:ea typeface="Consolas"/>
                    <a:cs typeface="Consolas"/>
                  </a:rPr>
                  <a:t>"protocol": "MQTT",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1538" y="4184650"/>
                <a:ext cx="26162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D97706"/>
                    </a:solidFill>
                    <a:latin typeface="Consolas"/>
                    <a:ea typeface="Consolas"/>
                    <a:cs typeface="Consolas"/>
                  </a:rPr>
                  <a:t>"target_device": "CRAC-AC-CENTRAL-01",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1538" y="4375150"/>
                <a:ext cx="26478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D97706"/>
                    </a:solidFill>
                    <a:latin typeface="Consolas"/>
                    <a:ea typeface="Consolas"/>
                    <a:cs typeface="Consolas"/>
                  </a:rPr>
                  <a:t>"command": "POWER_OFF | STATUS_REPORT"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71538" y="4613275"/>
                <a:ext cx="761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F172A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</p:grpSp>
      </p:grpSp>
      <p:grpSp>
        <p:nvGrpSpPr>
          <p:cNvPr id="44" name="gatekeeper-card"/>
          <p:cNvGrpSpPr/>
          <p:nvPr/>
        </p:nvGrpSpPr>
        <p:grpSpPr>
          <a:xfrm>
            <a:off x="6191250" y="1285875"/>
            <a:ext cx="5314950" cy="4953000"/>
            <a:chOff x="6191250" y="1285875"/>
            <a:chExt cx="5314950" cy="4953000"/>
          </a:xfrm>
        </p:grpSpPr>
        <p:sp>
          <p:nvSpPr>
            <p:cNvPr id="27" name="Rectangle 27"/>
            <p:cNvSpPr/>
            <p:nvPr/>
          </p:nvSpPr>
          <p:spPr>
            <a:xfrm>
              <a:off x="6191250" y="1285875"/>
              <a:ext cx="53149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1285875"/>
              <a:ext cx="5314950" cy="400050"/>
            </a:xfrm>
            <a:prstGeom prst="roundRect">
              <a:avLst>
                <a:gd name="adj" fmla="val 19048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4135" y="1403350"/>
              <a:ext cx="3047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5 Ketahanan Gatekeeper (Validasi Negatif)</a:t>
              </a:r>
            </a:p>
          </p:txBody>
        </p:sp>
        <p:grpSp>
          <p:nvGrpSpPr>
            <p:cNvPr id="43" name="checks-list"/>
            <p:cNvGrpSpPr/>
            <p:nvPr/>
          </p:nvGrpSpPr>
          <p:grpSpPr>
            <a:xfrm>
              <a:off x="6414897" y="1873250"/>
              <a:ext cx="5017822" cy="3746500"/>
              <a:chOff x="6414897" y="1873250"/>
              <a:chExt cx="5017822" cy="374650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414897" y="1873250"/>
                <a:ext cx="129499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991B1B"/>
                    </a:solidFill>
                    <a:latin typeface="+mn-lt"/>
                    <a:ea typeface="+mn-ea"/>
                    <a:cs typeface="+mn-cs"/>
                  </a:rPr>
                  <a:t>1. Format IPv4 Strict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15088" y="2076450"/>
                <a:ext cx="39180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Menolak string rusak atau bukan 4 oktet desimal (misal 999.999.999.999).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14897" y="2444750"/>
                <a:ext cx="215830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991B1B"/>
                    </a:solidFill>
                    <a:latin typeface="+mn-lt"/>
                    <a:ea typeface="+mn-ea"/>
                    <a:cs typeface="+mn-cs"/>
                  </a:rPr>
                  <a:t>2. Missing / Null Mandatory Fields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5088" y="2647950"/>
                <a:ext cx="342401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Menolak jika user_id, ip_address, atau location kosong atau null.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14897" y="3016250"/>
                <a:ext cx="216398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991B1B"/>
                    </a:solidFill>
                    <a:latin typeface="+mn-lt"/>
                    <a:ea typeface="+mn-ea"/>
                    <a:cs typeface="+mn-cs"/>
                  </a:rPr>
                  <a:t>3. Past Time Drift Error (&gt; 24 Jam)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15088" y="3219450"/>
                <a:ext cx="49427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Mencegah injeksi log basi lampau (seperti baterai CMOS router reset ke 1970) -&gt; HTTP 422.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14897" y="3587750"/>
                <a:ext cx="241448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991B1B"/>
                    </a:solidFill>
                    <a:latin typeface="+mn-lt"/>
                    <a:ea typeface="+mn-ea"/>
                    <a:cs typeface="+mn-cs"/>
                  </a:rPr>
                  <a:t>4. Future Clock Drift Error (&gt; 30 Detik)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15088" y="3790950"/>
                <a:ext cx="412780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Menolak stempel waktu di masa depan yang melompat dari waktu sistem riil.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14897" y="4159250"/>
                <a:ext cx="157793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991B1B"/>
                    </a:solidFill>
                    <a:latin typeface="+mn-lt"/>
                    <a:ea typeface="+mn-ea"/>
                    <a:cs typeface="+mn-cs"/>
                  </a:rPr>
                  <a:t>5. SOAR Active Rejection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15088" y="4362450"/>
                <a:ext cx="501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Jika IP di isolated_hosts atau user di suspended_users, tolak langsung di HTTP 403 Forbidden.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419850" y="4953000"/>
                <a:ext cx="4857750" cy="666750"/>
              </a:xfrm>
              <a:prstGeom prst="roundRect">
                <a:avLst>
                  <a:gd name="adj" fmla="val 8571"/>
                </a:avLst>
              </a:prstGeom>
              <a:solidFill>
                <a:srgbClr val="F0FDF4"/>
              </a:solidFill>
              <a:ln w="9525">
                <a:solidFill>
                  <a:srgbClr val="BBF7D0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567488" y="5076825"/>
                <a:ext cx="181679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✔ HASIL AUDIT GATEKEEPER: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67488" y="5314950"/>
                <a:ext cx="410996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100% data cacat &amp; time drift tertolak secara deterministik tanpa crash server.</a:t>
                </a:r>
              </a:p>
            </p:txBody>
          </p:sp>
        </p:grpSp>
      </p:grpSp>
      <p:grpSp>
        <p:nvGrpSpPr>
          <p:cNvPr id="47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5" name="Line 45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399998" cy="802259"/>
            <a:chOff x="676656" y="304800"/>
            <a:chExt cx="6399998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9039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04 / ATURAN KORELASI (PRD §3C)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55056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Matriks 7 Aturan Inti Mesin Korelasi (The Brain)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396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Stateful sliding-window di memori mengevaluasi urutan event lintas waktu untuk membunyikan alarm.</a:t>
              </a:r>
            </a:p>
          </p:txBody>
        </p:sp>
      </p:grpSp>
      <p:grpSp>
        <p:nvGrpSpPr>
          <p:cNvPr id="15" name="rule-row-1"/>
          <p:cNvGrpSpPr/>
          <p:nvPr/>
        </p:nvGrpSpPr>
        <p:grpSpPr>
          <a:xfrm>
            <a:off x="685800" y="1428750"/>
            <a:ext cx="10820400" cy="590550"/>
            <a:chOff x="685800" y="1428750"/>
            <a:chExt cx="10820400" cy="590550"/>
          </a:xfrm>
        </p:grpSpPr>
        <p:sp>
          <p:nvSpPr>
            <p:cNvPr id="8" name="Rectangle 8"/>
            <p:cNvSpPr/>
            <p:nvPr/>
          </p:nvSpPr>
          <p:spPr>
            <a:xfrm>
              <a:off x="685800" y="14287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4287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9447" y="1549400"/>
              <a:ext cx="402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066" y="1739900"/>
              <a:ext cx="14134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DDoS / Botnet Flood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00500" y="16002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D97706">
                <a:alpha val="10000"/>
              </a:srgbClr>
            </a:solidFill>
            <a:ln w="9525">
              <a:solidFill>
                <a:srgbClr val="D9770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4243" y="1660525"/>
              <a:ext cx="4097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TINGGI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38547" y="1644650"/>
              <a:ext cx="29851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&gt; 10 web_request dari 1 IP dalam rentang 10 detik.</a:t>
              </a:r>
            </a:p>
          </p:txBody>
        </p:sp>
      </p:grpSp>
      <p:grpSp>
        <p:nvGrpSpPr>
          <p:cNvPr id="23" name="rule-row-2"/>
          <p:cNvGrpSpPr/>
          <p:nvPr/>
        </p:nvGrpSpPr>
        <p:grpSpPr>
          <a:xfrm>
            <a:off x="685800" y="2114550"/>
            <a:ext cx="10820400" cy="590550"/>
            <a:chOff x="685800" y="2114550"/>
            <a:chExt cx="10820400" cy="590550"/>
          </a:xfrm>
        </p:grpSpPr>
        <p:sp>
          <p:nvSpPr>
            <p:cNvPr id="16" name="Rectangle 16"/>
            <p:cNvSpPr/>
            <p:nvPr/>
          </p:nvSpPr>
          <p:spPr>
            <a:xfrm>
              <a:off x="685800" y="21145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21145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9447" y="2235200"/>
              <a:ext cx="402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2425700"/>
              <a:ext cx="1183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Impossible Travel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00500" y="22860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DC2626">
                <a:alpha val="10000"/>
              </a:srgbClr>
            </a:solidFill>
            <a:ln w="9525">
              <a:solidFill>
                <a:srgbClr val="DC262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44631" y="2346325"/>
              <a:ext cx="368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KRITIS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8547" y="2330450"/>
              <a:ext cx="35798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2 login sukses user sama di 2 negara berbeda selang &lt; 1 jam.</a:t>
              </a:r>
            </a:p>
          </p:txBody>
        </p:sp>
      </p:grpSp>
      <p:grpSp>
        <p:nvGrpSpPr>
          <p:cNvPr id="31" name="rule-row-3"/>
          <p:cNvGrpSpPr/>
          <p:nvPr/>
        </p:nvGrpSpPr>
        <p:grpSpPr>
          <a:xfrm>
            <a:off x="685800" y="2800350"/>
            <a:ext cx="10820400" cy="590550"/>
            <a:chOff x="685800" y="2800350"/>
            <a:chExt cx="10820400" cy="590550"/>
          </a:xfrm>
        </p:grpSpPr>
        <p:sp>
          <p:nvSpPr>
            <p:cNvPr id="24" name="Rectangle 24"/>
            <p:cNvSpPr/>
            <p:nvPr/>
          </p:nvSpPr>
          <p:spPr>
            <a:xfrm>
              <a:off x="685800" y="28003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28003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447" y="2921000"/>
              <a:ext cx="402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066" y="3111500"/>
              <a:ext cx="1575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Distributed Brute Force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00500" y="29718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D97706">
                <a:alpha val="10000"/>
              </a:srgbClr>
            </a:solidFill>
            <a:ln w="9525">
              <a:solidFill>
                <a:srgbClr val="D9770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24243" y="3032125"/>
              <a:ext cx="4097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TINGGI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38547" y="3016250"/>
              <a:ext cx="37211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&gt; 5 login gagal untuk 1 user dari &gt; 3 IP berbeda dalam 1 menit.</a:t>
              </a:r>
            </a:p>
          </p:txBody>
        </p:sp>
      </p:grpSp>
      <p:grpSp>
        <p:nvGrpSpPr>
          <p:cNvPr id="39" name="rule-row-4"/>
          <p:cNvGrpSpPr/>
          <p:nvPr/>
        </p:nvGrpSpPr>
        <p:grpSpPr>
          <a:xfrm>
            <a:off x="685800" y="3486150"/>
            <a:ext cx="10820400" cy="590550"/>
            <a:chOff x="685800" y="3486150"/>
            <a:chExt cx="10820400" cy="590550"/>
          </a:xfrm>
        </p:grpSpPr>
        <p:sp>
          <p:nvSpPr>
            <p:cNvPr id="32" name="Rectangle 32"/>
            <p:cNvSpPr/>
            <p:nvPr/>
          </p:nvSpPr>
          <p:spPr>
            <a:xfrm>
              <a:off x="685800" y="34861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5800" y="34861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9447" y="3606800"/>
              <a:ext cx="402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9066" y="3797300"/>
              <a:ext cx="1328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Off-Hours Anomaly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00500" y="36576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2563EB">
                <a:alpha val="10000"/>
              </a:srgbClr>
            </a:solidFill>
            <a:ln w="9525">
              <a:solidFill>
                <a:srgbClr val="2563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87195" y="3717925"/>
              <a:ext cx="6838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2563EB"/>
                  </a:solidFill>
                  <a:latin typeface="+mn-lt"/>
                  <a:ea typeface="+mn-ea"/>
                  <a:cs typeface="+mn-cs"/>
                </a:rPr>
                <a:t>MENENGAH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38547" y="3702050"/>
              <a:ext cx="39125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Aktivitas login user manusia sukses di luar jam kerja (00:00 - 05:00).</a:t>
              </a:r>
            </a:p>
          </p:txBody>
        </p:sp>
      </p:grpSp>
      <p:grpSp>
        <p:nvGrpSpPr>
          <p:cNvPr id="47" name="rule-row-5"/>
          <p:cNvGrpSpPr/>
          <p:nvPr/>
        </p:nvGrpSpPr>
        <p:grpSpPr>
          <a:xfrm>
            <a:off x="685800" y="4171950"/>
            <a:ext cx="10820400" cy="590550"/>
            <a:chOff x="685800" y="4171950"/>
            <a:chExt cx="10820400" cy="590550"/>
          </a:xfrm>
        </p:grpSpPr>
        <p:sp>
          <p:nvSpPr>
            <p:cNvPr id="40" name="Rectangle 40"/>
            <p:cNvSpPr/>
            <p:nvPr/>
          </p:nvSpPr>
          <p:spPr>
            <a:xfrm>
              <a:off x="685800" y="41719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5800" y="41719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9447" y="4292600"/>
              <a:ext cx="402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9066" y="4483100"/>
              <a:ext cx="1111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 Exfiltration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000500" y="43434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DC2626">
                <a:alpha val="10000"/>
              </a:srgbClr>
            </a:solidFill>
            <a:ln w="9525">
              <a:solidFill>
                <a:srgbClr val="DC262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244631" y="4403725"/>
              <a:ext cx="368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KRITIS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38547" y="4387850"/>
              <a:ext cx="31418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1 user_id download database &gt; 50 kali dalam 1 menit.</a:t>
              </a:r>
            </a:p>
          </p:txBody>
        </p:sp>
      </p:grpSp>
      <p:grpSp>
        <p:nvGrpSpPr>
          <p:cNvPr id="55" name="rule-row-6"/>
          <p:cNvGrpSpPr/>
          <p:nvPr/>
        </p:nvGrpSpPr>
        <p:grpSpPr>
          <a:xfrm>
            <a:off x="685800" y="4857750"/>
            <a:ext cx="10820400" cy="590550"/>
            <a:chOff x="685800" y="4857750"/>
            <a:chExt cx="10820400" cy="590550"/>
          </a:xfrm>
        </p:grpSpPr>
        <p:sp>
          <p:nvSpPr>
            <p:cNvPr id="48" name="Rectangle 48"/>
            <p:cNvSpPr/>
            <p:nvPr/>
          </p:nvSpPr>
          <p:spPr>
            <a:xfrm>
              <a:off x="685800" y="48577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5800" y="48577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09447" y="4978400"/>
              <a:ext cx="8958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APT Watchlist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9066" y="5168900"/>
              <a:ext cx="1923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Low &amp; Slow APT Correlation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000500" y="50292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7C3AED">
                <a:alpha val="10000"/>
              </a:srgbClr>
            </a:solidFill>
            <a:ln w="9525">
              <a:solidFill>
                <a:srgbClr val="7C3AED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44631" y="5089525"/>
              <a:ext cx="368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KRITIS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38547" y="5073650"/>
              <a:ext cx="4279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Korelasi recon di Cold Storage dengan exploit di Hot Storage via Greylist.</a:t>
              </a:r>
            </a:p>
          </p:txBody>
        </p:sp>
      </p:grpSp>
      <p:grpSp>
        <p:nvGrpSpPr>
          <p:cNvPr id="63" name="rule-row-7"/>
          <p:cNvGrpSpPr/>
          <p:nvPr/>
        </p:nvGrpSpPr>
        <p:grpSpPr>
          <a:xfrm>
            <a:off x="685800" y="5543550"/>
            <a:ext cx="10820400" cy="590550"/>
            <a:chOff x="685800" y="5543550"/>
            <a:chExt cx="10820400" cy="590550"/>
          </a:xfrm>
        </p:grpSpPr>
        <p:sp>
          <p:nvSpPr>
            <p:cNvPr id="56" name="Rectangle 56"/>
            <p:cNvSpPr/>
            <p:nvPr/>
          </p:nvSpPr>
          <p:spPr>
            <a:xfrm>
              <a:off x="685800" y="5543550"/>
              <a:ext cx="10820400" cy="590550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" y="5543550"/>
              <a:ext cx="76200" cy="5905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9447" y="5664200"/>
              <a:ext cx="11355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Rule OT Sabotage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9066" y="5854700"/>
              <a:ext cx="22755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Datacenter AC Shutdown (MQTT)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000500" y="5715000"/>
              <a:ext cx="857250" cy="247650"/>
            </a:xfrm>
            <a:prstGeom prst="roundRect">
              <a:avLst>
                <a:gd name="adj" fmla="val 15385"/>
              </a:avLst>
            </a:prstGeom>
            <a:solidFill>
              <a:srgbClr val="DC2626">
                <a:alpha val="10000"/>
              </a:srgbClr>
            </a:solidFill>
            <a:ln w="9525">
              <a:solidFill>
                <a:srgbClr val="DC262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44631" y="5775325"/>
              <a:ext cx="368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-ID" sz="82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KRITIS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138547" y="5759450"/>
              <a:ext cx="43219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Perintah POWER_OFF hardware pendingin datacenter via protokol MQTT.</a:t>
              </a:r>
            </a:p>
          </p:txBody>
        </p:sp>
      </p:grpSp>
      <p:grpSp>
        <p:nvGrpSpPr>
          <p:cNvPr id="66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64" name="Line 64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7547158" cy="802259"/>
            <a:chOff x="676656" y="304800"/>
            <a:chExt cx="7547158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50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05 / SKENARIO INSIDEN (PRD §4)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75471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Bedah Skenario 1 s/d 3: Trafik Normal, DDoS &amp; Impossible Travel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5904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Pengujian baseline tanpa false-alarm, serangan volumetrik L7, dan anomali geolokasi identitas.</a:t>
              </a:r>
            </a:p>
          </p:txBody>
        </p:sp>
      </p:grpSp>
      <p:grpSp>
        <p:nvGrpSpPr>
          <p:cNvPr id="18" name="scenario-card-1"/>
          <p:cNvGrpSpPr/>
          <p:nvPr/>
        </p:nvGrpSpPr>
        <p:grpSpPr>
          <a:xfrm>
            <a:off x="685800" y="1285875"/>
            <a:ext cx="3476625" cy="4953000"/>
            <a:chOff x="685800" y="1285875"/>
            <a:chExt cx="3476625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059669">
                <a:alpha val="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1444625"/>
              <a:ext cx="2166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SKENARIO 1: TRAFIK NORMAL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1885950"/>
              <a:ext cx="144352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Baseline Operasional Sah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538" y="2362200"/>
              <a:ext cx="28111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Sumber: sample_logs/web_access_normal_[1..3].log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538" y="2762250"/>
              <a:ext cx="2760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Aktivitas: Akses portal HR &amp; CRM pada jam wajar.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3162300"/>
              <a:ext cx="25939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Target: Bebas alarm palsu (False Positive Zero).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538" y="3562350"/>
              <a:ext cx="2311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Hasil: 0 Alarm Dipicu (Trafik Lolos Bersih).</a:t>
              </a:r>
            </a:p>
          </p:txBody>
        </p:sp>
      </p:grpSp>
      <p:grpSp>
        <p:nvGrpSpPr>
          <p:cNvPr id="29" name="scenario-card-2"/>
          <p:cNvGrpSpPr/>
          <p:nvPr/>
        </p:nvGrpSpPr>
        <p:grpSpPr>
          <a:xfrm>
            <a:off x="4400550" y="1285875"/>
            <a:ext cx="3476625" cy="4953000"/>
            <a:chOff x="4400550" y="1285875"/>
            <a:chExt cx="3476625" cy="4953000"/>
          </a:xfrm>
        </p:grpSpPr>
        <p:sp>
          <p:nvSpPr>
            <p:cNvPr id="19" name="Rectangle 19"/>
            <p:cNvSpPr/>
            <p:nvPr/>
          </p:nvSpPr>
          <p:spPr>
            <a:xfrm>
              <a:off x="440055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0055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D97706">
                <a:alpha val="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0055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5716" y="1444625"/>
              <a:ext cx="2639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SKENARIO 2: DDOS / BOTNET FLOOD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6288" y="1885950"/>
              <a:ext cx="1961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Memicu Rule 1 (Severity: TINGGI)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59105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6288" y="2362200"/>
              <a:ext cx="27113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Sumber: sample_logs/nginx_ddos_flood_[1..3].log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288" y="2762250"/>
              <a:ext cx="2993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Serangan: IP penyerang membanjiri &gt; 10 req/10 detik.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288" y="3162300"/>
              <a:ext cx="29145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Respon: Alarm 'DDoS / Botnet Flood' TINGGI dipicu.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6288" y="3562350"/>
              <a:ext cx="2730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Mitigasi: SOAR Isolate Host memutus penyerang.</a:t>
              </a:r>
            </a:p>
          </p:txBody>
        </p:sp>
      </p:grpSp>
      <p:grpSp>
        <p:nvGrpSpPr>
          <p:cNvPr id="40" name="scenario-card-3"/>
          <p:cNvGrpSpPr/>
          <p:nvPr/>
        </p:nvGrpSpPr>
        <p:grpSpPr>
          <a:xfrm>
            <a:off x="8115300" y="1285875"/>
            <a:ext cx="3476625" cy="4953000"/>
            <a:chOff x="8115300" y="1285875"/>
            <a:chExt cx="3476625" cy="4953000"/>
          </a:xfrm>
        </p:grpSpPr>
        <p:sp>
          <p:nvSpPr>
            <p:cNvPr id="30" name="Rectangle 30"/>
            <p:cNvSpPr/>
            <p:nvPr/>
          </p:nvSpPr>
          <p:spPr>
            <a:xfrm>
              <a:off x="81153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1530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153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00466" y="1444625"/>
              <a:ext cx="2408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SKENARIO 3: IMPOSSIBLE TRAVEL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01038" y="1885950"/>
              <a:ext cx="1918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Memicu Rule 2 (Severity: KRITIS)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0580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01038" y="2362200"/>
              <a:ext cx="28928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Sumber: sample_logs/vpn_and_gate_access_[1..3].csv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1038" y="2762250"/>
              <a:ext cx="32275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Anomali: RFID tap Jakarta, VPN login Frankfurt (selang 1s).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1038" y="3162300"/>
              <a:ext cx="28130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Kecepatan: Mustahil berpindah ribuan km seketika.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1038" y="3562350"/>
              <a:ext cx="25695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Mitigasi: Memicu alarm Kritis &amp; Suspend User.</a:t>
              </a:r>
            </a:p>
          </p:txBody>
        </p:sp>
      </p:grpSp>
      <p:grpSp>
        <p:nvGrpSpPr>
          <p:cNvPr id="43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1" name="Line 41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7257366" cy="802259"/>
            <a:chOff x="676656" y="304800"/>
            <a:chExt cx="7257366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50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06 / SKENARIO INSIDEN (PRD §4)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72573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Bedah Skenario 4 s/d 6: Brute Force, Exfiltration &amp; Whitelisting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506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Deteksi brute force terdistribusi, ancaman orang dalam (insider threat), dan risiko blind spot whitelisting.</a:t>
              </a:r>
            </a:p>
          </p:txBody>
        </p:sp>
      </p:grpSp>
      <p:grpSp>
        <p:nvGrpSpPr>
          <p:cNvPr id="18" name="scenario-card-4"/>
          <p:cNvGrpSpPr/>
          <p:nvPr/>
        </p:nvGrpSpPr>
        <p:grpSpPr>
          <a:xfrm>
            <a:off x="685800" y="1285875"/>
            <a:ext cx="3476625" cy="4953000"/>
            <a:chOff x="685800" y="1285875"/>
            <a:chExt cx="3476625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D97706">
                <a:alpha val="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1444625"/>
              <a:ext cx="2926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SKENARIO 4: DISTRIBUTED BRUTE FORCE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1885950"/>
              <a:ext cx="19619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Memicu Rule 3 (Severity: TINGGI)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538" y="2362200"/>
              <a:ext cx="29113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Sumber: sample_logs/auth_sshd_bruteforce_[1..3].log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538" y="2762250"/>
              <a:ext cx="29009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Taktik: Tebak password SSH terdistribusi 4 node Tor.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3162300"/>
              <a:ext cx="26609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Kriteria: &gt; 5 gagal login untuk 1 user dari &gt; 3 IP.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538" y="3562350"/>
              <a:ext cx="25398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Hasil: Alarm Distributed Brute Force berbunyi.</a:t>
              </a:r>
            </a:p>
          </p:txBody>
        </p:sp>
      </p:grpSp>
      <p:grpSp>
        <p:nvGrpSpPr>
          <p:cNvPr id="29" name="scenario-card-5"/>
          <p:cNvGrpSpPr/>
          <p:nvPr/>
        </p:nvGrpSpPr>
        <p:grpSpPr>
          <a:xfrm>
            <a:off x="4400550" y="1285875"/>
            <a:ext cx="3476625" cy="4953000"/>
            <a:chOff x="4400550" y="1285875"/>
            <a:chExt cx="3476625" cy="4953000"/>
          </a:xfrm>
        </p:grpSpPr>
        <p:sp>
          <p:nvSpPr>
            <p:cNvPr id="19" name="Rectangle 19"/>
            <p:cNvSpPr/>
            <p:nvPr/>
          </p:nvSpPr>
          <p:spPr>
            <a:xfrm>
              <a:off x="440055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0055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0055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5716" y="1444625"/>
              <a:ext cx="2444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SKENARIO 5: DATA EXFILTRATION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6288" y="1885950"/>
              <a:ext cx="19186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Memicu Rule 5 (Severity: KRITIS)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59105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6288" y="2362200"/>
              <a:ext cx="32548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Sumber: sample_logs/postgres_audit_exfiltration_[1..3].jsonl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288" y="2762250"/>
              <a:ext cx="31052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Ancaman: Rogue dev unduh PII &gt; 50 kali dalam 1 menit.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288" y="3162300"/>
              <a:ext cx="2702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Respon: Alarm KRITIS eksfiltrasi data dibunyikan.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6288" y="3562350"/>
              <a:ext cx="2932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Mitigasi: Pembatasan akses DB &amp; suspend akun user.</a:t>
              </a:r>
            </a:p>
          </p:txBody>
        </p:sp>
      </p:grpSp>
      <p:grpSp>
        <p:nvGrpSpPr>
          <p:cNvPr id="40" name="scenario-card-6"/>
          <p:cNvGrpSpPr/>
          <p:nvPr/>
        </p:nvGrpSpPr>
        <p:grpSpPr>
          <a:xfrm>
            <a:off x="8115300" y="1285875"/>
            <a:ext cx="3476625" cy="4953000"/>
            <a:chOff x="8115300" y="1285875"/>
            <a:chExt cx="3476625" cy="4953000"/>
          </a:xfrm>
        </p:grpSpPr>
        <p:sp>
          <p:nvSpPr>
            <p:cNvPr id="30" name="Rectangle 30"/>
            <p:cNvSpPr/>
            <p:nvPr/>
          </p:nvSpPr>
          <p:spPr>
            <a:xfrm>
              <a:off x="81153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15300" y="1285875"/>
              <a:ext cx="3476625" cy="476250"/>
            </a:xfrm>
            <a:prstGeom prst="roundRect">
              <a:avLst>
                <a:gd name="adj" fmla="val 16000"/>
              </a:avLst>
            </a:prstGeom>
            <a:solidFill>
              <a:srgbClr val="7C3AED">
                <a:alpha val="8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153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00466" y="1444625"/>
              <a:ext cx="2745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SKENARIO 6: CARELESS WHITELISTING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01038" y="1885950"/>
              <a:ext cx="21315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Demonstrasi Fatal Error &amp; Blind Spot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05800" y="219075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01038" y="2362200"/>
              <a:ext cx="27627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Konsep: Admin memasukkan IP jahat ke Whitelist.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1038" y="2762250"/>
              <a:ext cx="2849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Dampak: Mesin korelasi MENGABAIKAN log IP tsb.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1038" y="3162300"/>
              <a:ext cx="27754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Edukasi: Membuktikan risiko fatal bypass whitelist.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1038" y="3562350"/>
              <a:ext cx="2957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Pemulihan: Hapus IP dari whitelist memulihkan alarm.</a:t>
              </a:r>
            </a:p>
          </p:txBody>
        </p:sp>
      </p:grpSp>
      <p:grpSp>
        <p:nvGrpSpPr>
          <p:cNvPr id="43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1" name="Line 41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857402" cy="802259"/>
            <a:chOff x="676656" y="304800"/>
            <a:chExt cx="6857402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50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07 / SKENARIO INSIDEN (PRD §4)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6857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Bedah Skenario 7 &amp; 8: Data Cacat &amp; The Low and Slow APT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320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Validasi integritas data telemetri dan penanganan serangan berjarak 20 hari melintasi retensi storage.</a:t>
              </a:r>
            </a:p>
          </p:txBody>
        </p:sp>
      </p:grpSp>
      <p:grpSp>
        <p:nvGrpSpPr>
          <p:cNvPr id="25" name="sc7-card"/>
          <p:cNvGrpSpPr/>
          <p:nvPr/>
        </p:nvGrpSpPr>
        <p:grpSpPr>
          <a:xfrm>
            <a:off x="685800" y="1285875"/>
            <a:ext cx="5238750" cy="4953000"/>
            <a:chOff x="685800" y="1285875"/>
            <a:chExt cx="5238750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52387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76200" cy="49530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1514475"/>
              <a:ext cx="3338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SKENARIO 7: DATA CACAT &amp; TIME DRIFT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447" y="1778000"/>
              <a:ext cx="36811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0284C7"/>
                  </a:solidFill>
                  <a:latin typeface="+mn-lt"/>
                  <a:ea typeface="+mn-ea"/>
                  <a:cs typeface="+mn-cs"/>
                </a:rPr>
                <a:t>Uji Ketahanan Gatekeeper terhadap Log Korup (HTTP 422)</a:t>
              </a:r>
            </a:p>
          </p:txBody>
        </p:sp>
        <p:grpSp>
          <p:nvGrpSpPr>
            <p:cNvPr id="24" name="sc7-body"/>
            <p:cNvGrpSpPr/>
            <p:nvPr/>
          </p:nvGrpSpPr>
          <p:grpSpPr>
            <a:xfrm>
              <a:off x="909447" y="2159000"/>
              <a:ext cx="4767453" cy="3175000"/>
              <a:chOff x="909447" y="2159000"/>
              <a:chExt cx="4767453" cy="317500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09447" y="2159000"/>
                <a:ext cx="335379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4645" indent="-84645">
                  <a:buClr>
                    <a:srgbClr val="334155"/>
                  </a:buClr>
                  <a:buSzTx/>
                  <a:buFontTx/>
                  <a:buChar char="•"/>
                </a:pPr>
                <a:r>
                  <a:rPr lang="id-ID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Sumber: sample_logs/legacy_corrupted_device_[1..3].log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9447" y="2540000"/>
                <a:ext cx="1952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Kasus Uji 1 (Malformed JSON):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9638" y="2743200"/>
                <a:ext cx="31072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Data terpotong di tengah transmisi jaringan -&gt; HTTP 422.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09447" y="3063875"/>
                <a:ext cx="151367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Kasus Uji 2 (Missing IP):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09638" y="3267075"/>
                <a:ext cx="310038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Log telemetri tanpa atribut alamat IP pengirim -&gt; Ditolak.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9447" y="3587750"/>
                <a:ext cx="248348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Kasus Uji 3 (CMOS Battery Reset 1970):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9638" y="3790950"/>
                <a:ext cx="34997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Timestamp reset ke era UNIX 1970 (&gt; 24 jam lampau) -&gt; Ditolak.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9447" y="4111625"/>
                <a:ext cx="194699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Kasus Uji 4 (Future Time Drift):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9638" y="4314825"/>
                <a:ext cx="356635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Jam melompat ke masa depan (&gt; 30s dari waktu nyata) -&gt; Ditolak.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914400" y="4762500"/>
                <a:ext cx="476250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0FDF4"/>
              </a:solidFill>
              <a:ln w="9525">
                <a:solidFill>
                  <a:srgbClr val="BBF7D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42988" y="4886325"/>
                <a:ext cx="13889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b="1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✔ HASIL GATEKEEPER: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42988" y="5076825"/>
                <a:ext cx="309621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166534"/>
                    </a:solidFill>
                    <a:latin typeface="+mn-lt"/>
                    <a:ea typeface="+mn-ea"/>
                    <a:cs typeface="+mn-cs"/>
                  </a:rPr>
                  <a:t>100% data cacat ditolak tanpa menyebabkan server crash.</a:t>
                </a:r>
              </a:p>
            </p:txBody>
          </p:sp>
        </p:grpSp>
      </p:grpSp>
      <p:grpSp>
        <p:nvGrpSpPr>
          <p:cNvPr id="43" name="sc8-card"/>
          <p:cNvGrpSpPr/>
          <p:nvPr/>
        </p:nvGrpSpPr>
        <p:grpSpPr>
          <a:xfrm>
            <a:off x="6191250" y="1285875"/>
            <a:ext cx="5314950" cy="4953000"/>
            <a:chOff x="6191250" y="1285875"/>
            <a:chExt cx="5314950" cy="4953000"/>
          </a:xfrm>
        </p:grpSpPr>
        <p:sp>
          <p:nvSpPr>
            <p:cNvPr id="26" name="Rectangle 26"/>
            <p:cNvSpPr/>
            <p:nvPr/>
          </p:nvSpPr>
          <p:spPr>
            <a:xfrm>
              <a:off x="6191250" y="1285875"/>
              <a:ext cx="53149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191250" y="1285875"/>
              <a:ext cx="76200" cy="4953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3754" y="1514475"/>
              <a:ext cx="2949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SKENARIO 8: THE LOW &amp; SLOW APT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14897" y="1778000"/>
              <a:ext cx="3106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Jebakan Hot vs Cold Storage &amp; Stateful Watchlist</a:t>
              </a:r>
            </a:p>
          </p:txBody>
        </p:sp>
        <p:grpSp>
          <p:nvGrpSpPr>
            <p:cNvPr id="42" name="sc8-body"/>
            <p:cNvGrpSpPr/>
            <p:nvPr/>
          </p:nvGrpSpPr>
          <p:grpSpPr>
            <a:xfrm>
              <a:off x="6414897" y="2159000"/>
              <a:ext cx="4862703" cy="3175000"/>
              <a:chOff x="6414897" y="2159000"/>
              <a:chExt cx="4862703" cy="317500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414897" y="2159000"/>
                <a:ext cx="387879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84645" indent="-84645">
                  <a:buClr>
                    <a:srgbClr val="334155"/>
                  </a:buClr>
                  <a:buSzTx/>
                  <a:buFontTx/>
                  <a:buChar char="•"/>
                </a:pPr>
                <a:r>
                  <a:rPr lang="id-ID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Masalah: Log hanya ditahan di Hot Storage 7-14 hari demi biaya.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14897" y="2349500"/>
                <a:ext cx="396956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Serangan APT Hari ke-20 lolos karena recon sudah ke Cold Storage.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14897" y="2730500"/>
                <a:ext cx="164707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Alur Serangan Dua Babak: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5088" y="2952750"/>
                <a:ext cx="368440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77735" indent="-77735">
                  <a:buClr>
                    <a:srgbClr val="64748B"/>
                  </a:buClr>
                  <a:buSzTx/>
                  <a:buFontTx/>
                  <a:buChar char="•"/>
                </a:pPr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Tanggal 1: Penyerang meluncurkan Reconnaissance Probe (/recon).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15088" y="3143250"/>
                <a:ext cx="34228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77735" indent="-77735">
                  <a:buClr>
                    <a:srgbClr val="64748B"/>
                  </a:buClr>
                  <a:buSzTx/>
                  <a:buFontTx/>
                  <a:buChar char="•"/>
                </a:pPr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Tanggal 20: Penyerang melancarkan Exploit Request ke server.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14897" y="3540125"/>
                <a:ext cx="189015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Solusi Arsitektural Mini-SIEM: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15088" y="3762375"/>
                <a:ext cx="348620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1. Saat recon terdeteksi, IP dicatat ke Stateful Watchlist (Greylist).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15088" y="3952875"/>
                <a:ext cx="352170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2. Saat exploit tiba di Tanggal 20, alarm APT Kritis dipicu seketika.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415088" y="4143375"/>
                <a:ext cx="34475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3. Log historis dari Cold Storage direhidrasi untuk bukti forensik.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419850" y="4762500"/>
                <a:ext cx="4857750" cy="571500"/>
              </a:xfrm>
              <a:prstGeom prst="roundRect">
                <a:avLst>
                  <a:gd name="adj" fmla="val 10000"/>
                </a:avLst>
              </a:prstGeom>
              <a:solidFill>
                <a:srgbClr val="FAF5FF"/>
              </a:solidFill>
              <a:ln w="9525">
                <a:solidFill>
                  <a:srgbClr val="E9D5FF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548438" y="4886325"/>
                <a:ext cx="109001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b="1" dirty="0">
                    <a:solidFill>
                      <a:srgbClr val="6B21A8"/>
                    </a:solidFill>
                    <a:latin typeface="+mn-lt"/>
                    <a:ea typeface="+mn-ea"/>
                    <a:cs typeface="+mn-cs"/>
                  </a:rPr>
                  <a:t>✔ KEUNGGULAN: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48438" y="5076825"/>
                <a:ext cx="352982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B21A8"/>
                    </a:solidFill>
                    <a:latin typeface="+mn-lt"/>
                    <a:ea typeface="+mn-ea"/>
                    <a:cs typeface="+mn-cs"/>
                  </a:rPr>
                  <a:t>Menghilangkan blind spot tanpa memboroskan RAM storage tier.</a:t>
                </a:r>
              </a:p>
            </p:txBody>
          </p:sp>
        </p:grpSp>
      </p:grpSp>
      <p:grpSp>
        <p:nvGrpSpPr>
          <p:cNvPr id="46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4" name="Line 44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7980398" cy="802259"/>
            <a:chOff x="676656" y="304800"/>
            <a:chExt cx="7980398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50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08 / SKENARIO INSIDEN (PRD §4)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7980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Skenario 9: Sabotase Fisik Datacenter - AC Central Shutdown (MQTT)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500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Mendeteksi sabotase fasilitas pendingin datacenter melalui protokol MQTT dan respon karantina SOAR.</a:t>
              </a:r>
            </a:p>
          </p:txBody>
        </p:sp>
      </p:grpSp>
      <p:grpSp>
        <p:nvGrpSpPr>
          <p:cNvPr id="19" name="ot-col-1"/>
          <p:cNvGrpSpPr/>
          <p:nvPr/>
        </p:nvGrpSpPr>
        <p:grpSpPr>
          <a:xfrm>
            <a:off x="685800" y="1285875"/>
            <a:ext cx="3476625" cy="4953000"/>
            <a:chOff x="685800" y="1285875"/>
            <a:chExt cx="3476625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3476625" cy="457200"/>
            </a:xfrm>
            <a:prstGeom prst="roundRect">
              <a:avLst>
                <a:gd name="adj" fmla="val 16667"/>
              </a:avLst>
            </a:prstGeom>
            <a:solidFill>
              <a:srgbClr val="0284C7">
                <a:alpha val="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1444625"/>
              <a:ext cx="1996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284C7"/>
                  </a:solidFill>
                  <a:latin typeface="+mn-lt"/>
                  <a:ea typeface="+mn-ea"/>
                  <a:cs typeface="+mn-cs"/>
                </a:rPr>
                <a:t>1. KONTEKS HARDWARE OT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2076450"/>
              <a:ext cx="16718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Target Fisik: Pendingin utama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538" y="2266950"/>
              <a:ext cx="18758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datacenter (CRAC-AC-01 / Chiller).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538" y="2571750"/>
              <a:ext cx="2074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Protokol: MQTT terhubung ke sistem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538" y="2762250"/>
              <a:ext cx="11221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sensor SCADA/BMS.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3067050"/>
              <a:ext cx="1622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Dampak: AC mati mendadak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538" y="3257550"/>
              <a:ext cx="21101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menyebabkan kenaikan suhu rak server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1538" y="3448050"/>
              <a:ext cx="14277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dan thermal runaway fatal.</a:t>
              </a:r>
            </a:p>
          </p:txBody>
        </p:sp>
      </p:grpSp>
      <p:grpSp>
        <p:nvGrpSpPr>
          <p:cNvPr id="30" name="ot-col-2"/>
          <p:cNvGrpSpPr/>
          <p:nvPr/>
        </p:nvGrpSpPr>
        <p:grpSpPr>
          <a:xfrm>
            <a:off x="4400550" y="1285875"/>
            <a:ext cx="3476625" cy="4953000"/>
            <a:chOff x="4400550" y="1285875"/>
            <a:chExt cx="3476625" cy="4953000"/>
          </a:xfrm>
        </p:grpSpPr>
        <p:sp>
          <p:nvSpPr>
            <p:cNvPr id="20" name="Rectangle 20"/>
            <p:cNvSpPr/>
            <p:nvPr/>
          </p:nvSpPr>
          <p:spPr>
            <a:xfrm>
              <a:off x="440055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00550" y="1285875"/>
              <a:ext cx="3476625" cy="457200"/>
            </a:xfrm>
            <a:prstGeom prst="roundRect">
              <a:avLst>
                <a:gd name="adj" fmla="val 16667"/>
              </a:avLst>
            </a:prstGeom>
            <a:solidFill>
              <a:srgbClr val="D97706">
                <a:alpha val="8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0055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85716" y="1444625"/>
              <a:ext cx="1819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2. ALUR REPLAY 2 TAHAP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86288" y="2076450"/>
              <a:ext cx="2006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Tahap 1: Sensor membaca telemetri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86288" y="2266950"/>
              <a:ext cx="16457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suhu wajar (18.5°C) &amp; perintah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288" y="2457450"/>
              <a:ext cx="18775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STATUS_REPORT -&gt; Lolos normal.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288" y="2762250"/>
              <a:ext cx="18365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Tahap 2: Oknum ilegal mengirim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6288" y="2952750"/>
              <a:ext cx="18735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perintah sabotase POWER_OFF via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6288" y="3143250"/>
              <a:ext cx="14487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topik MQTT crac01/power.</a:t>
              </a:r>
            </a:p>
          </p:txBody>
        </p:sp>
      </p:grpSp>
      <p:grpSp>
        <p:nvGrpSpPr>
          <p:cNvPr id="42" name="ot-col-3"/>
          <p:cNvGrpSpPr/>
          <p:nvPr/>
        </p:nvGrpSpPr>
        <p:grpSpPr>
          <a:xfrm>
            <a:off x="8115300" y="1285875"/>
            <a:ext cx="3476625" cy="4953000"/>
            <a:chOff x="8115300" y="1285875"/>
            <a:chExt cx="3476625" cy="4953000"/>
          </a:xfrm>
        </p:grpSpPr>
        <p:sp>
          <p:nvSpPr>
            <p:cNvPr id="31" name="Rectangle 31"/>
            <p:cNvSpPr/>
            <p:nvPr/>
          </p:nvSpPr>
          <p:spPr>
            <a:xfrm>
              <a:off x="8115300" y="1285875"/>
              <a:ext cx="3476625" cy="495300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15300" y="1285875"/>
              <a:ext cx="3476625" cy="457200"/>
            </a:xfrm>
            <a:prstGeom prst="roundRect">
              <a:avLst>
                <a:gd name="adj" fmla="val 16667"/>
              </a:avLst>
            </a:prstGeom>
            <a:solidFill>
              <a:srgbClr val="DC2626">
                <a:alpha val="8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15300" y="1285875"/>
              <a:ext cx="57150" cy="49530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00466" y="1444625"/>
              <a:ext cx="2327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DC2626"/>
                  </a:solidFill>
                  <a:latin typeface="+mn-lt"/>
                  <a:ea typeface="+mn-ea"/>
                  <a:cs typeface="+mn-cs"/>
                </a:rPr>
                <a:t>3. DETEKSI &amp;amp; RESPON SOAR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1038" y="2076450"/>
              <a:ext cx="1908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Deteksi: SIEM mengenali protokol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1038" y="2266950"/>
              <a:ext cx="20757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MQTT &amp; hardware pendingin, memicu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1038" y="2457450"/>
              <a:ext cx="7245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alarm KRITIS.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1038" y="2762250"/>
              <a:ext cx="13603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Pertahanan Aktif: Analis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1038" y="2952750"/>
              <a:ext cx="1946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mengisolasi IP penyerang via SOAR.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1038" y="3257550"/>
              <a:ext cx="2025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Perintah sabotase lanjutan langsung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1038" y="3448050"/>
              <a:ext cx="1868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di-drop di Gatekeeper (HTTP 403)!</a:t>
              </a:r>
            </a:p>
          </p:txBody>
        </p:sp>
      </p:grpSp>
      <p:grpSp>
        <p:nvGrpSpPr>
          <p:cNvPr id="45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3" name="Line 43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7755587" cy="802259"/>
            <a:chOff x="676656" y="304800"/>
            <a:chExt cx="7755587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7255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09 / INCIDENT RESPONSE PLAYBOOKS (PRD §3D)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7755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SOAR Active Defense: Network Quarantine &amp; Identity Containment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58694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Respons insiden aktif memutus rantai serangan langsung di level Gatekeeper secara real-time.</a:t>
              </a:r>
            </a:p>
          </p:txBody>
        </p:sp>
      </p:grpSp>
      <p:grpSp>
        <p:nvGrpSpPr>
          <p:cNvPr id="16" name="soar-row-1"/>
          <p:cNvGrpSpPr/>
          <p:nvPr/>
        </p:nvGrpSpPr>
        <p:grpSpPr>
          <a:xfrm>
            <a:off x="685800" y="1285875"/>
            <a:ext cx="10820400" cy="1095375"/>
            <a:chOff x="685800" y="1285875"/>
            <a:chExt cx="10820400" cy="1095375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108204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1438275"/>
              <a:ext cx="2839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Network Quarantine (Isolate Host)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0" y="1438275"/>
              <a:ext cx="2095500" cy="2286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062538" y="1489075"/>
              <a:ext cx="13620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DC2626"/>
                  </a:solidFill>
                  <a:latin typeface="Consolas"/>
                  <a:ea typeface="Consolas"/>
                  <a:cs typeface="Consolas"/>
                </a:rPr>
                <a:t>POST /api/soar/isolate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447" y="1787525"/>
              <a:ext cx="51668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Analis mengisolasi IP penyerang dari dashboard. Status alert menjadi [CONTAINED] dan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447" y="1978025"/>
              <a:ext cx="46941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buffer korelasi dibersihkan. Seluruh log lanjutan dari IP tersebut ditolak otomatis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447" y="2168525"/>
              <a:ext cx="2612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di Gatekeeper (HTTP 403 HOST_ISOLATED).</a:t>
              </a:r>
            </a:p>
          </p:txBody>
        </p:sp>
      </p:grpSp>
      <p:grpSp>
        <p:nvGrpSpPr>
          <p:cNvPr id="25" name="soar-row-2"/>
          <p:cNvGrpSpPr/>
          <p:nvPr/>
        </p:nvGrpSpPr>
        <p:grpSpPr>
          <a:xfrm>
            <a:off x="685800" y="2524125"/>
            <a:ext cx="10820400" cy="1095375"/>
            <a:chOff x="685800" y="2524125"/>
            <a:chExt cx="10820400" cy="1095375"/>
          </a:xfrm>
        </p:grpSpPr>
        <p:sp>
          <p:nvSpPr>
            <p:cNvPr id="17" name="Rectangle 17"/>
            <p:cNvSpPr/>
            <p:nvPr/>
          </p:nvSpPr>
          <p:spPr>
            <a:xfrm>
              <a:off x="685800" y="2524125"/>
              <a:ext cx="108204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" y="25241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8304" y="2676525"/>
              <a:ext cx="303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Identity Containment (Suspend User)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53000" y="2676525"/>
              <a:ext cx="2095500" cy="2286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62538" y="2727325"/>
              <a:ext cx="1665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7C3AED"/>
                  </a:solidFill>
                  <a:latin typeface="Consolas"/>
                  <a:ea typeface="Consolas"/>
                  <a:cs typeface="Consolas"/>
                </a:rPr>
                <a:t>POST /api/soar/suspend-user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447" y="3025775"/>
              <a:ext cx="46400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Untuk insiden kredensial terkompromi (Impossible Travel), akun user dibekukan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447" y="3216275"/>
              <a:ext cx="49361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seketika. Setiap percobaan autentikasi lanjutan ditolak di gerbang Gatekeeper (HTTP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447" y="3406775"/>
              <a:ext cx="1490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403 USER_SUSPENDED).</a:t>
              </a:r>
            </a:p>
          </p:txBody>
        </p:sp>
      </p:grpSp>
      <p:grpSp>
        <p:nvGrpSpPr>
          <p:cNvPr id="33" name="soar-row-3"/>
          <p:cNvGrpSpPr/>
          <p:nvPr/>
        </p:nvGrpSpPr>
        <p:grpSpPr>
          <a:xfrm>
            <a:off x="685800" y="3762375"/>
            <a:ext cx="10820400" cy="1095375"/>
            <a:chOff x="685800" y="3762375"/>
            <a:chExt cx="10820400" cy="1095375"/>
          </a:xfrm>
        </p:grpSpPr>
        <p:sp>
          <p:nvSpPr>
            <p:cNvPr id="26" name="Rectangle 26"/>
            <p:cNvSpPr/>
            <p:nvPr/>
          </p:nvSpPr>
          <p:spPr>
            <a:xfrm>
              <a:off x="685800" y="3762375"/>
              <a:ext cx="108204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" y="37623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8304" y="3914775"/>
              <a:ext cx="3127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Access Restoration (Release Playbook)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0" y="3914775"/>
              <a:ext cx="2095500" cy="2286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62538" y="3965575"/>
              <a:ext cx="13620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059669"/>
                  </a:solidFill>
                  <a:latin typeface="Consolas"/>
                  <a:ea typeface="Consolas"/>
                  <a:cs typeface="Consolas"/>
                </a:rPr>
                <a:t>POST /api/soar/release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447" y="4264025"/>
              <a:ext cx="49133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Setelah ancaman dinetralisir, analis dapat melepas karantina host atau mengaktifkan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9447" y="4454525"/>
              <a:ext cx="44516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kembali akun pengguna dengan satu klik tanpa perlu merestart server SIEM.</a:t>
              </a:r>
            </a:p>
          </p:txBody>
        </p:sp>
      </p:grpSp>
      <p:grpSp>
        <p:nvGrpSpPr>
          <p:cNvPr id="42" name="soar-row-4"/>
          <p:cNvGrpSpPr/>
          <p:nvPr/>
        </p:nvGrpSpPr>
        <p:grpSpPr>
          <a:xfrm>
            <a:off x="685800" y="5000625"/>
            <a:ext cx="10820400" cy="1095375"/>
            <a:chOff x="685800" y="5000625"/>
            <a:chExt cx="10820400" cy="1095375"/>
          </a:xfrm>
        </p:grpSpPr>
        <p:sp>
          <p:nvSpPr>
            <p:cNvPr id="34" name="Rectangle 34"/>
            <p:cNvSpPr/>
            <p:nvPr/>
          </p:nvSpPr>
          <p:spPr>
            <a:xfrm>
              <a:off x="685800" y="5000625"/>
              <a:ext cx="10820400" cy="1095375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5800" y="5000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8304" y="5153025"/>
              <a:ext cx="1885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Immutable Audit Trail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953000" y="5153025"/>
              <a:ext cx="2095500" cy="228600"/>
            </a:xfrm>
            <a:prstGeom prst="roundRect">
              <a:avLst>
                <a:gd name="adj" fmla="val 16667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62538" y="5203825"/>
              <a:ext cx="11761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0284C7"/>
                  </a:solidFill>
                  <a:latin typeface="Consolas"/>
                  <a:ea typeface="Consolas"/>
                  <a:cs typeface="Consolas"/>
                </a:rPr>
                <a:t>GET /api/soar/audit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9447" y="5502275"/>
              <a:ext cx="49541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Setiap aksi karantina, pembekuan user, dan pemulihan dicatat kronologis dalam jejak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447" y="5692775"/>
              <a:ext cx="47278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audit SOAR (mencakup action, target, alasan, dan stempel waktu ISO UTC) untuk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9447" y="5883275"/>
              <a:ext cx="7735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akuntabilitas.</a:t>
              </a:r>
            </a:p>
          </p:txBody>
        </p:sp>
      </p:grpSp>
      <p:grpSp>
        <p:nvGrpSpPr>
          <p:cNvPr id="45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3" name="Line 43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909914" cy="802259"/>
            <a:chOff x="676656" y="304800"/>
            <a:chExt cx="6909914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6792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10 / TATA KELOLA AI (PRD §6)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6462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Arsitektur Pengaman: Human-Supervised AI Adaptation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906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Mencegah keracunan model (poisoning) dan pemadaman tak disengaja dengan verifikasi Human-in-the-Loop.</a:t>
              </a:r>
            </a:p>
          </p:txBody>
        </p:sp>
      </p:grpSp>
      <p:grpSp>
        <p:nvGrpSpPr>
          <p:cNvPr id="14" name="risk-1"/>
          <p:cNvGrpSpPr/>
          <p:nvPr/>
        </p:nvGrpSpPr>
        <p:grpSpPr>
          <a:xfrm>
            <a:off x="685800" y="1285875"/>
            <a:ext cx="3476625" cy="1524000"/>
            <a:chOff x="685800" y="1285875"/>
            <a:chExt cx="3476625" cy="1524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966" y="1444625"/>
              <a:ext cx="1779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1. Concept Drift Poisoning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1743075"/>
              <a:ext cx="25186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Penyerang menyuntikkan anomali berfrekuensi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1933575"/>
              <a:ext cx="26584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rendah bertahap. AI tanpa supervisi menganggap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538" y="2124075"/>
              <a:ext cx="21414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tren jahat tersebut sebagai pola normal.</a:t>
              </a:r>
            </a:p>
          </p:txBody>
        </p:sp>
      </p:grpSp>
      <p:grpSp>
        <p:nvGrpSpPr>
          <p:cNvPr id="21" name="risk-2"/>
          <p:cNvGrpSpPr/>
          <p:nvPr/>
        </p:nvGrpSpPr>
        <p:grpSpPr>
          <a:xfrm>
            <a:off x="4352925" y="1285875"/>
            <a:ext cx="3476625" cy="1524000"/>
            <a:chOff x="4352925" y="1285875"/>
            <a:chExt cx="3476625" cy="1524000"/>
          </a:xfrm>
        </p:grpSpPr>
        <p:sp>
          <p:nvSpPr>
            <p:cNvPr id="15" name="Rectangle 15"/>
            <p:cNvSpPr/>
            <p:nvPr/>
          </p:nvSpPr>
          <p:spPr>
            <a:xfrm>
              <a:off x="4352925" y="1285875"/>
              <a:ext cx="3476625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52925" y="1285875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38091" y="1444625"/>
              <a:ext cx="1355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2. Self-Inflicted DoS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8662" y="1743075"/>
              <a:ext cx="2602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Aturan adaptif salah mengklasifikasikan lonjakan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38662" y="1933575"/>
              <a:ext cx="2343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checkout promo (Flash Sale) sebagai DDoS,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38662" y="2124075"/>
              <a:ext cx="18712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sehingga memutus pelanggan sah.</a:t>
              </a:r>
            </a:p>
          </p:txBody>
        </p:sp>
      </p:grpSp>
      <p:grpSp>
        <p:nvGrpSpPr>
          <p:cNvPr id="28" name="risk-3"/>
          <p:cNvGrpSpPr/>
          <p:nvPr/>
        </p:nvGrpSpPr>
        <p:grpSpPr>
          <a:xfrm>
            <a:off x="8020050" y="1285875"/>
            <a:ext cx="3476625" cy="1524000"/>
            <a:chOff x="8020050" y="1285875"/>
            <a:chExt cx="3476625" cy="1524000"/>
          </a:xfrm>
        </p:grpSpPr>
        <p:sp>
          <p:nvSpPr>
            <p:cNvPr id="22" name="Rectangle 22"/>
            <p:cNvSpPr/>
            <p:nvPr/>
          </p:nvSpPr>
          <p:spPr>
            <a:xfrm>
              <a:off x="8020050" y="1285875"/>
              <a:ext cx="3476625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20050" y="1285875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5216" y="1444625"/>
              <a:ext cx="17712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6B21A8"/>
                  </a:solidFill>
                  <a:latin typeface="+mn-lt"/>
                  <a:ea typeface="+mn-ea"/>
                  <a:cs typeface="+mn-cs"/>
                </a:rPr>
                <a:t>3. Pelanggaran Kepatuhan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05788" y="1743075"/>
              <a:ext cx="22520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ISO 27001 melarang keputusan black-box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5788" y="1933575"/>
              <a:ext cx="2428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tanpa tiket persetujuan formal dan verifikator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5788" y="2124075"/>
              <a:ext cx="16266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penanggung jawab yang jelas.</a:t>
              </a:r>
            </a:p>
          </p:txBody>
        </p:sp>
      </p:grpSp>
      <p:grpSp>
        <p:nvGrpSpPr>
          <p:cNvPr id="43" name="safe-cycle"/>
          <p:cNvGrpSpPr/>
          <p:nvPr/>
        </p:nvGrpSpPr>
        <p:grpSpPr>
          <a:xfrm>
            <a:off x="685800" y="3000375"/>
            <a:ext cx="10820400" cy="3238500"/>
            <a:chOff x="685800" y="3000375"/>
            <a:chExt cx="10820400" cy="3238500"/>
          </a:xfrm>
        </p:grpSpPr>
        <p:sp>
          <p:nvSpPr>
            <p:cNvPr id="29" name="Rectangle 29"/>
            <p:cNvSpPr/>
            <p:nvPr/>
          </p:nvSpPr>
          <p:spPr>
            <a:xfrm>
              <a:off x="685800" y="3000375"/>
              <a:ext cx="10820400" cy="323850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5800" y="3000375"/>
              <a:ext cx="10820400" cy="400050"/>
            </a:xfrm>
            <a:prstGeom prst="roundRect">
              <a:avLst>
                <a:gd name="adj" fmla="val 19048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8685" y="3117850"/>
              <a:ext cx="58959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🏛️ Blueprint 5-Tahap Siklus Aman: Deteksi Anomali hingga Implementasi Produksi</a:t>
              </a:r>
            </a:p>
          </p:txBody>
        </p:sp>
        <p:grpSp>
          <p:nvGrpSpPr>
            <p:cNvPr id="42" name="steps-list"/>
            <p:cNvGrpSpPr/>
            <p:nvPr/>
          </p:nvGrpSpPr>
          <p:grpSpPr>
            <a:xfrm>
              <a:off x="909447" y="3635375"/>
              <a:ext cx="5077421" cy="2474912"/>
              <a:chOff x="909447" y="3635375"/>
              <a:chExt cx="5077421" cy="2474912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909447" y="3635375"/>
                <a:ext cx="133313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Gatekeeper Ingest: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09638" y="3838575"/>
                <a:ext cx="45371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Validasi deterministik di gerbang (Tolak HTTP 422 jika format atau timestamp rusak).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09447" y="4159250"/>
                <a:ext cx="18043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Dead-Letter Queue (DLQ):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09638" y="4362450"/>
                <a:ext cx="469939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Payload anomali baru diisolasi ke antrean karantina tanpa mengganggu pipeline utama.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9447" y="4683125"/>
                <a:ext cx="153623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3. AI Suggestion Engine: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09638" y="4886325"/>
                <a:ext cx="433320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Sintesis pola klaster anomali dan perumusan 'Candidate Rule' secara terprogram.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09447" y="5207000"/>
                <a:ext cx="138538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4. Canary Replay Test: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9638" y="5410200"/>
                <a:ext cx="47740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Pengujian regresi aturan pada 30 hari data historis; auto-rollback jika False Positive &gt; 2%.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9447" y="5730875"/>
                <a:ext cx="214705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5. HITL Approval (Shadow Mode):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9638" y="5934075"/>
                <a:ext cx="507723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059669"/>
                    </a:solidFill>
                    <a:latin typeface="+mn-lt"/>
                    <a:ea typeface="+mn-ea"/>
                    <a:cs typeface="+mn-cs"/>
                  </a:rPr>
                  <a:t>Aturan berjalan di mode bayangan hingga Lead Analis menyetujui promosi aturan ke produksi.</a:t>
                </a:r>
              </a:p>
            </p:txBody>
          </p:sp>
        </p:grpSp>
      </p:grpSp>
      <p:grpSp>
        <p:nvGrpSpPr>
          <p:cNvPr id="46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4" name="Line 44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7047248" cy="802259"/>
            <a:chOff x="676656" y="304800"/>
            <a:chExt cx="7047248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0772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11 / PRASYARAT INTEGRASI (PRD §7)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7047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Prasyarat Integrasi Infrastruktur: Universal Ingestion Syllabus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122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Empat tahapan persiapan fondasi data, standarisasi protokol, sinkronisasi NTP, dan konteks bisnis.</a:t>
              </a:r>
            </a:p>
          </p:txBody>
        </p:sp>
      </p:grpSp>
      <p:grpSp>
        <p:nvGrpSpPr>
          <p:cNvPr id="15" name="syl-card-1"/>
          <p:cNvGrpSpPr/>
          <p:nvPr/>
        </p:nvGrpSpPr>
        <p:grpSpPr>
          <a:xfrm>
            <a:off x="685800" y="1285875"/>
            <a:ext cx="5295900" cy="2286000"/>
            <a:chOff x="685800" y="1285875"/>
            <a:chExt cx="5295900" cy="2286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52959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76200" cy="22860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585" y="1489075"/>
              <a:ext cx="241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Tahap 1: Fondasi Bahan Baku Log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176212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538" y="1885950"/>
              <a:ext cx="32299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Anatomi Log: Membedakan Event, Payload, dan Metadata.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538" y="2314575"/>
              <a:ext cx="38952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Log Lifecycle: Titik lahir -&gt; Forwarding -&gt; Hot Storage -&gt; Cold Archive.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538" y="2743200"/>
              <a:ext cx="4192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Kalkulasi EPS: Menghitung beban volume agar buffer korelasi tidak overflow.</a:t>
              </a:r>
            </a:p>
          </p:txBody>
        </p:sp>
      </p:grpSp>
      <p:grpSp>
        <p:nvGrpSpPr>
          <p:cNvPr id="23" name="syl-card-2"/>
          <p:cNvGrpSpPr/>
          <p:nvPr/>
        </p:nvGrpSpPr>
        <p:grpSpPr>
          <a:xfrm>
            <a:off x="6210300" y="1285875"/>
            <a:ext cx="5295900" cy="2286000"/>
            <a:chOff x="6210300" y="1285875"/>
            <a:chExt cx="5295900" cy="2286000"/>
          </a:xfrm>
        </p:grpSpPr>
        <p:sp>
          <p:nvSpPr>
            <p:cNvPr id="16" name="Rectangle 16"/>
            <p:cNvSpPr/>
            <p:nvPr/>
          </p:nvSpPr>
          <p:spPr>
            <a:xfrm>
              <a:off x="6210300" y="1285875"/>
              <a:ext cx="52959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10300" y="1285875"/>
              <a:ext cx="76200" cy="22860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5085" y="1489075"/>
              <a:ext cx="2060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Tahap 2: Standarisasi Bahasa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00800" y="176212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6038" y="1885950"/>
              <a:ext cx="41150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RFC 5424 Syslog: Format pembungkus standar (Timestamp, Host, Severity).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6038" y="2314575"/>
              <a:ext cx="39114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Kepatuhan NIST SP 800-92: Wajib catat login gagal &amp; eskalasi privilese.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6038" y="2743200"/>
              <a:ext cx="3938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OCSF / CIM Schema: Menyatukan field multi-vendor ke satu taksonomi.</a:t>
              </a:r>
            </a:p>
          </p:txBody>
        </p:sp>
      </p:grpSp>
      <p:grpSp>
        <p:nvGrpSpPr>
          <p:cNvPr id="31" name="syl-card-3"/>
          <p:cNvGrpSpPr/>
          <p:nvPr/>
        </p:nvGrpSpPr>
        <p:grpSpPr>
          <a:xfrm>
            <a:off x="685800" y="3762375"/>
            <a:ext cx="5295900" cy="2286000"/>
            <a:chOff x="685800" y="3762375"/>
            <a:chExt cx="5295900" cy="2286000"/>
          </a:xfrm>
        </p:grpSpPr>
        <p:sp>
          <p:nvSpPr>
            <p:cNvPr id="24" name="Rectangle 24"/>
            <p:cNvSpPr/>
            <p:nvPr/>
          </p:nvSpPr>
          <p:spPr>
            <a:xfrm>
              <a:off x="685800" y="3762375"/>
              <a:ext cx="52959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3762375"/>
              <a:ext cx="76200" cy="22860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0585" y="3965575"/>
              <a:ext cx="19839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Tahap 3: Prasyarat Jaringan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76300" y="423862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1538" y="4362450"/>
              <a:ext cx="41839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Sinkronisasi Waktu Sentral (NTP): Seluruh server merujuk waktu atomik UTC.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1538" y="4791075"/>
              <a:ext cx="40590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Log Forwarder: Menggunakan Fluentd / Logstash terdistribusi di tiap host.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538" y="5219700"/>
              <a:ext cx="35306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Noise Filtering: Membuang ping rutin internal di level forwarder.</a:t>
              </a:r>
            </a:p>
          </p:txBody>
        </p:sp>
      </p:grpSp>
      <p:grpSp>
        <p:nvGrpSpPr>
          <p:cNvPr id="39" name="syl-card-4"/>
          <p:cNvGrpSpPr/>
          <p:nvPr/>
        </p:nvGrpSpPr>
        <p:grpSpPr>
          <a:xfrm>
            <a:off x="6210300" y="3762375"/>
            <a:ext cx="5295900" cy="2286000"/>
            <a:chOff x="6210300" y="3762375"/>
            <a:chExt cx="5295900" cy="2286000"/>
          </a:xfrm>
        </p:grpSpPr>
        <p:sp>
          <p:nvSpPr>
            <p:cNvPr id="32" name="Rectangle 32"/>
            <p:cNvSpPr/>
            <p:nvPr/>
          </p:nvSpPr>
          <p:spPr>
            <a:xfrm>
              <a:off x="6210300" y="3762375"/>
              <a:ext cx="5295900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10300" y="3762375"/>
              <a:ext cx="76200" cy="2286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95085" y="3965575"/>
              <a:ext cx="1692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Tahap 4: Konteks Bisnis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400800" y="423862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6038" y="4362450"/>
              <a:ext cx="35988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Asset Management: Klasifikasi kekritisan server inti vs WiFi publik.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96038" y="4791075"/>
              <a:ext cx="390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Definisi Use Case: Merumuskan skenario deteksi ancaman sebelum live.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96038" y="5219700"/>
              <a:ext cx="41308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7735" indent="-77735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9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SOP &amp; Eskalasi: Penetapan PIC tim penanggung jawab saat alarm berbunyi.</a:t>
              </a:r>
            </a:p>
          </p:txBody>
        </p:sp>
      </p:grpSp>
      <p:grpSp>
        <p:nvGrpSpPr>
          <p:cNvPr id="42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0" name="Line 40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791374" cy="802259"/>
            <a:chOff x="676656" y="304800"/>
            <a:chExt cx="6791374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20206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12 / ARSITEKTUR STORAGE (PRD §8)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6791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Arsitektur Storage Bertingkat: Hot Storage vs Cold Storage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62694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Mengatasi dilema biaya dan latensi pencarian data dalam mendeteksi ancaman APT jangka panjang.</a:t>
              </a:r>
            </a:p>
          </p:txBody>
        </p:sp>
      </p:grpSp>
      <p:grpSp>
        <p:nvGrpSpPr>
          <p:cNvPr id="22" name="bf-card"/>
          <p:cNvGrpSpPr/>
          <p:nvPr/>
        </p:nvGrpSpPr>
        <p:grpSpPr>
          <a:xfrm>
            <a:off x="685800" y="1285875"/>
            <a:ext cx="5238750" cy="4953000"/>
            <a:chOff x="685800" y="1285875"/>
            <a:chExt cx="5238750" cy="4953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52387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76200" cy="495300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1514475"/>
              <a:ext cx="3255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⚠️ Limitasi Linier (The Brute-Force Fallacy)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447" y="1778000"/>
              <a:ext cx="38597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Mengapa memperbesar Hot Storage hingga 90 hari itu gagal?</a:t>
              </a:r>
            </a:p>
          </p:txBody>
        </p:sp>
        <p:grpSp>
          <p:nvGrpSpPr>
            <p:cNvPr id="21" name="bf-body"/>
            <p:cNvGrpSpPr/>
            <p:nvPr/>
          </p:nvGrpSpPr>
          <p:grpSpPr>
            <a:xfrm>
              <a:off x="909447" y="2206625"/>
              <a:ext cx="4029276" cy="1979612"/>
              <a:chOff x="909447" y="2206625"/>
              <a:chExt cx="4029276" cy="197961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09447" y="2206625"/>
                <a:ext cx="137363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Biaya Eksponensial: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9638" y="2409825"/>
                <a:ext cx="402908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Menyimpan petabyte log mentah di tier RAM/NVMe SSD menaikkan biaya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9638" y="2581275"/>
                <a:ext cx="285031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infrastruktur data secara membengkak tak terkendali.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09447" y="2921000"/>
                <a:ext cx="166507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Degradasi Latensi Kueri: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09638" y="3124200"/>
                <a:ext cx="387240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Indeks pencarian yang membesar menurunkan performa evaluasi aturan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9638" y="3295650"/>
                <a:ext cx="31319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korelasi dari &lt; 10ms menjadi hitungan detik hingga menit.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9447" y="3635375"/>
                <a:ext cx="198555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3. Rasio Noise-to-Signal Tinggi: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9638" y="3838575"/>
                <a:ext cx="367688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98% data adalah telemetri rutin; mengalokasikan tier premium untuk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9638" y="4010025"/>
                <a:ext cx="365068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data non-kritis memboroskan anggaran keamanan secara signifikan.</a:t>
                </a:r>
              </a:p>
            </p:txBody>
          </p:sp>
        </p:grpSp>
      </p:grpSp>
      <p:grpSp>
        <p:nvGrpSpPr>
          <p:cNvPr id="38" name="sol-card"/>
          <p:cNvGrpSpPr/>
          <p:nvPr/>
        </p:nvGrpSpPr>
        <p:grpSpPr>
          <a:xfrm>
            <a:off x="6191250" y="1285875"/>
            <a:ext cx="5314950" cy="4953000"/>
            <a:chOff x="6191250" y="1285875"/>
            <a:chExt cx="5314950" cy="49530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285875"/>
              <a:ext cx="531495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91250" y="1285875"/>
              <a:ext cx="76200" cy="4953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3754" y="1514475"/>
              <a:ext cx="2487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200" b="1" dirty="0">
                  <a:solidFill>
                    <a:srgbClr val="065F46"/>
                  </a:solidFill>
                  <a:latin typeface="+mn-lt"/>
                  <a:ea typeface="+mn-ea"/>
                  <a:cs typeface="+mn-cs"/>
                </a:rPr>
                <a:t>✔ Solusi Arsitektural Mini-SIEM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4897" y="1778000"/>
              <a:ext cx="26286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Stateful Tracking &amp; Rehidrasi Log Terarah</a:t>
              </a:r>
            </a:p>
          </p:txBody>
        </p:sp>
        <p:grpSp>
          <p:nvGrpSpPr>
            <p:cNvPr id="37" name="sol-body"/>
            <p:cNvGrpSpPr/>
            <p:nvPr/>
          </p:nvGrpSpPr>
          <p:grpSpPr>
            <a:xfrm>
              <a:off x="6414897" y="2206625"/>
              <a:ext cx="4862703" cy="2141537"/>
              <a:chOff x="6414897" y="2206625"/>
              <a:chExt cx="4862703" cy="2141537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414897" y="2206625"/>
                <a:ext cx="311047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1. Stateful Entity Tracking (Lightweight Memory):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15088" y="2409825"/>
                <a:ext cx="402711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Alih-alih menahan puluhan GB log mentah, SIEM hanya menyimpan status: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419850" y="2619375"/>
                <a:ext cx="485775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1F5F9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510338" y="2717800"/>
                <a:ext cx="393185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820" dirty="0">
                    <a:solidFill>
                      <a:srgbClr val="1E3A8A"/>
                    </a:solidFill>
                    <a:latin typeface="Consolas"/>
                    <a:ea typeface="Consolas"/>
                    <a:cs typeface="Consolas"/>
                  </a:rPr>
                  <a:t>{"ip": "198.51.100.77", "risk": "HIGH", "reason": "recon_day_1"}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15088" y="2981325"/>
                <a:ext cx="319826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Jejak memori minimal ini dipertahankan lintas siklus retensi.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14897" y="3397250"/>
                <a:ext cx="300758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0F172A"/>
                    </a:solidFill>
                    <a:latin typeface="+mn-lt"/>
                    <a:ea typeface="+mn-ea"/>
                    <a:cs typeface="+mn-cs"/>
                  </a:rPr>
                  <a:t>2. Cold Log Rehydration (On-Demand Forensic):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5088" y="3600450"/>
                <a:ext cx="355805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Saat exploit tiba di Hari ke-20, sistem mengekstraksi log dari arsip: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419850" y="3810000"/>
                <a:ext cx="485775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1F5F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510338" y="3908425"/>
                <a:ext cx="255949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820" dirty="0">
                    <a:solidFill>
                      <a:srgbClr val="1E3A8A"/>
                    </a:solidFill>
                    <a:latin typeface="Consolas"/>
                    <a:ea typeface="Consolas"/>
                    <a:cs typeface="Consolas"/>
                  </a:rPr>
                  <a:t>cold_s3://logs/{yyyy}/{mm}/{dd}/{ip_hash}/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15088" y="4171950"/>
                <a:ext cx="348509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64748B"/>
                    </a:solidFill>
                    <a:latin typeface="+mn-lt"/>
                    <a:ea typeface="+mn-ea"/>
                    <a:cs typeface="+mn-cs"/>
                  </a:rPr>
                  <a:t>Log ditarik kembali ke memori aktif untuk rekonstruksi Kill Chain.</a:t>
                </a:r>
              </a:p>
            </p:txBody>
          </p:sp>
        </p:grpSp>
      </p:grpSp>
      <p:grpSp>
        <p:nvGrpSpPr>
          <p:cNvPr id="41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39" name="Line 39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5644777" cy="802259"/>
            <a:chOff x="676656" y="304800"/>
            <a:chExt cx="5644777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800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13 / ROADMAP PRODUK (PRD §9)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5644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Roadmap Ekosistem SIEM &amp; Matriks PM 13 Fitur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5184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Pentahapan fitur dari pondasi MVP, intelijen analitik, hingga otomasi tingkat lanjut.</a:t>
              </a:r>
            </a:p>
          </p:txBody>
        </p:sp>
      </p:grpSp>
      <p:grpSp>
        <p:nvGrpSpPr>
          <p:cNvPr id="18" name="phase-card-1"/>
          <p:cNvGrpSpPr/>
          <p:nvPr/>
        </p:nvGrpSpPr>
        <p:grpSpPr>
          <a:xfrm>
            <a:off x="685800" y="1285875"/>
            <a:ext cx="3476625" cy="2286000"/>
            <a:chOff x="685800" y="1285875"/>
            <a:chExt cx="3476625" cy="2286000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3476625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3476625" cy="361950"/>
            </a:xfrm>
            <a:prstGeom prst="roundRect">
              <a:avLst>
                <a:gd name="adj" fmla="val 21053"/>
              </a:avLst>
            </a:prstGeom>
            <a:solidFill>
              <a:srgbClr val="0284C7">
                <a:alpha val="8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285875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1347" y="1397000"/>
              <a:ext cx="20396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0284C7"/>
                  </a:solidFill>
                  <a:latin typeface="+mn-lt"/>
                  <a:ea typeface="+mn-ea"/>
                  <a:cs typeface="+mn-cs"/>
                </a:rPr>
                <a:t>MVP v1: Foundation (Fitur 1 - 6)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1851025"/>
              <a:ext cx="16665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1. Log Ingestion Engine (Critical)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538" y="2098675"/>
              <a:ext cx="20932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2. Data Parsing &amp; Normalization (Critical)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538" y="2346325"/>
              <a:ext cx="17995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3. Hot Storage &amp; Indexing (Critical)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538" y="2593975"/>
              <a:ext cx="17680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4. Search &amp; Query Interface (High)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2841625"/>
              <a:ext cx="15060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5. Rule-Based Alerting (High)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538" y="3089275"/>
              <a:ext cx="2156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6. Basic Dashboard &amp; Reporting (Medium)</a:t>
              </a:r>
            </a:p>
          </p:txBody>
        </p:sp>
      </p:grpSp>
      <p:grpSp>
        <p:nvGrpSpPr>
          <p:cNvPr id="27" name="phase-card-2"/>
          <p:cNvGrpSpPr/>
          <p:nvPr/>
        </p:nvGrpSpPr>
        <p:grpSpPr>
          <a:xfrm>
            <a:off x="4400550" y="1285875"/>
            <a:ext cx="3476625" cy="2286000"/>
            <a:chOff x="4400550" y="1285875"/>
            <a:chExt cx="3476625" cy="2286000"/>
          </a:xfrm>
        </p:grpSpPr>
        <p:sp>
          <p:nvSpPr>
            <p:cNvPr id="19" name="Rectangle 19"/>
            <p:cNvSpPr/>
            <p:nvPr/>
          </p:nvSpPr>
          <p:spPr>
            <a:xfrm>
              <a:off x="4400550" y="1285875"/>
              <a:ext cx="3476625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00550" y="1285875"/>
              <a:ext cx="3476625" cy="361950"/>
            </a:xfrm>
            <a:prstGeom prst="roundRect">
              <a:avLst>
                <a:gd name="adj" fmla="val 21053"/>
              </a:avLst>
            </a:prstGeom>
            <a:solidFill>
              <a:srgbClr val="7C3AED">
                <a:alpha val="8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00550" y="1285875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86097" y="1397000"/>
              <a:ext cx="21094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7C3AED"/>
                  </a:solidFill>
                  <a:latin typeface="+mn-lt"/>
                  <a:ea typeface="+mn-ea"/>
                  <a:cs typeface="+mn-cs"/>
                </a:rPr>
                <a:t>Phase 2: Intelligence (Fitur 7 - 10)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6288" y="1851025"/>
              <a:ext cx="1921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7. Correlation Engine (High - Stateful)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86288" y="2098675"/>
              <a:ext cx="19393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8. Threat Intel Integration (High - IoC)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86288" y="2346325"/>
              <a:ext cx="21688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9. Incident &amp; Case Management (Medium)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288" y="2593975"/>
              <a:ext cx="23314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10. Cold Storage / Archiving (Retensi 1-7 Thn)</a:t>
              </a:r>
            </a:p>
          </p:txBody>
        </p:sp>
      </p:grpSp>
      <p:grpSp>
        <p:nvGrpSpPr>
          <p:cNvPr id="36" name="phase-card-3"/>
          <p:cNvGrpSpPr/>
          <p:nvPr/>
        </p:nvGrpSpPr>
        <p:grpSpPr>
          <a:xfrm>
            <a:off x="8115300" y="1285875"/>
            <a:ext cx="3476625" cy="2286000"/>
            <a:chOff x="8115300" y="1285875"/>
            <a:chExt cx="3476625" cy="2286000"/>
          </a:xfrm>
        </p:grpSpPr>
        <p:sp>
          <p:nvSpPr>
            <p:cNvPr id="28" name="Rectangle 28"/>
            <p:cNvSpPr/>
            <p:nvPr/>
          </p:nvSpPr>
          <p:spPr>
            <a:xfrm>
              <a:off x="8115300" y="1285875"/>
              <a:ext cx="3476625" cy="2286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1430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15300" y="1285875"/>
              <a:ext cx="3476625" cy="361950"/>
            </a:xfrm>
            <a:prstGeom prst="roundRect">
              <a:avLst>
                <a:gd name="adj" fmla="val 21053"/>
              </a:avLst>
            </a:prstGeom>
            <a:solidFill>
              <a:srgbClr val="059669">
                <a:alpha val="8000"/>
              </a:srgb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15300" y="1285875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0847" y="1397000"/>
              <a:ext cx="20772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b="1" dirty="0">
                  <a:solidFill>
                    <a:srgbClr val="059669"/>
                  </a:solidFill>
                  <a:latin typeface="+mn-lt"/>
                  <a:ea typeface="+mn-ea"/>
                  <a:cs typeface="+mn-cs"/>
                </a:rPr>
                <a:t>Phase 3: Advanced (Fitur 11 - 13)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01038" y="1851025"/>
              <a:ext cx="16857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11. UEBA (Behavioral ML Model)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1038" y="2098675"/>
              <a:ext cx="17313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12. SOAR (Automated Playbooks)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01038" y="2346325"/>
              <a:ext cx="16022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13. AI Adaptive Rule Generator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1038" y="2593975"/>
              <a:ext cx="20091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rgbClr val="334155"/>
                </a:buClr>
                <a:buSzTx/>
                <a:buFontTx/>
                <a:buChar char="•"/>
              </a:pPr>
              <a:r>
                <a:rPr lang="id-ID" sz="8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(DLQ, Canary Replay, &amp; HITL Approval)</a:t>
              </a:r>
            </a:p>
          </p:txBody>
        </p:sp>
      </p:grpSp>
      <p:grpSp>
        <p:nvGrpSpPr>
          <p:cNvPr id="47" name="pm-dependency"/>
          <p:cNvGrpSpPr/>
          <p:nvPr/>
        </p:nvGrpSpPr>
        <p:grpSpPr>
          <a:xfrm>
            <a:off x="685800" y="3762375"/>
            <a:ext cx="10820400" cy="2476500"/>
            <a:chOff x="685800" y="3762375"/>
            <a:chExt cx="10820400" cy="2476500"/>
          </a:xfrm>
        </p:grpSpPr>
        <p:sp>
          <p:nvSpPr>
            <p:cNvPr id="37" name="Rectangle 37"/>
            <p:cNvSpPr/>
            <p:nvPr/>
          </p:nvSpPr>
          <p:spPr>
            <a:xfrm>
              <a:off x="685800" y="3762375"/>
              <a:ext cx="10820400" cy="24765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5800" y="3762375"/>
              <a:ext cx="10820400" cy="3810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9066" y="3873500"/>
              <a:ext cx="4412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💡 Tiga Prinsip Rantai Dependensi Manajemen Produk (PM Logic)</a:t>
              </a:r>
            </a:p>
          </p:txBody>
        </p:sp>
        <p:grpSp>
          <p:nvGrpSpPr>
            <p:cNvPr id="46" name="pm-points"/>
            <p:cNvGrpSpPr/>
            <p:nvPr/>
          </p:nvGrpSpPr>
          <p:grpSpPr>
            <a:xfrm>
              <a:off x="909447" y="4302125"/>
              <a:ext cx="8350546" cy="1522412"/>
              <a:chOff x="909447" y="4302125"/>
              <a:chExt cx="8350546" cy="1522412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909447" y="4302125"/>
                <a:ext cx="253398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1. Fondasi Data Sebelum Analitik Lanjut: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9638" y="4505325"/>
                <a:ext cx="779241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Ingestion dan Hot Storage harus stabil sebelum UEBA aktif. Tanpa data historis terstandarisasi, model perilaku tidak memiliki baseline yang andal.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9447" y="4873625"/>
                <a:ext cx="302682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2. Pengendalian Risiko Sebelum Otomasi Penuh: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638" y="5076825"/>
                <a:ext cx="835035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SOAR diimplementasikan pada Phase 3 setelah Case Management matang. Mitigasi otomatis tanpa akurasi tinggi berisiko memblokir trafik operasional sah.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09447" y="5445125"/>
                <a:ext cx="279567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80" b="1" dirty="0">
                    <a:solidFill>
                      <a:srgbClr val="1E3A8A"/>
                    </a:solidFill>
                    <a:latin typeface="+mn-lt"/>
                    <a:ea typeface="+mn-ea"/>
                    <a:cs typeface="+mn-cs"/>
                  </a:rPr>
                  <a:t>3. Keseimbangan Performa &amp; Efisiensi Biaya: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09638" y="5648325"/>
                <a:ext cx="658780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id-ID" sz="900" dirty="0">
                    <a:solidFill>
                      <a:srgbClr val="475569"/>
                    </a:solidFill>
                    <a:latin typeface="+mn-lt"/>
                    <a:ea typeface="+mn-ea"/>
                    <a:cs typeface="+mn-cs"/>
                  </a:rPr>
                  <a:t>Pemisahan Hot Storage dan Cold Archive menjaga performa korelasi real-time optimal sekaligus mengendalikan anggaran.</a:t>
                </a:r>
              </a:p>
            </p:txBody>
          </p:sp>
        </p:grpSp>
      </p:grpSp>
      <p:grpSp>
        <p:nvGrpSpPr>
          <p:cNvPr id="50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48" name="Line 48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grpSp>
        <p:nvGrpSpPr>
          <p:cNvPr id="7" name="header-group"/>
          <p:cNvGrpSpPr/>
          <p:nvPr/>
        </p:nvGrpSpPr>
        <p:grpSpPr>
          <a:xfrm>
            <a:off x="676656" y="304800"/>
            <a:ext cx="6852582" cy="802259"/>
            <a:chOff x="676656" y="304800"/>
            <a:chExt cx="6852582" cy="802259"/>
          </a:xfrm>
        </p:grpSpPr>
        <p:sp>
          <p:nvSpPr>
            <p:cNvPr id="3" name="tag-bg"/>
            <p:cNvSpPr/>
            <p:nvPr/>
          </p:nvSpPr>
          <p:spPr>
            <a:xfrm>
              <a:off x="685800" y="304800"/>
              <a:ext cx="3238500" cy="247650"/>
            </a:xfrm>
            <a:prstGeom prst="roundRect">
              <a:avLst>
                <a:gd name="adj" fmla="val 1538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6288" y="365125"/>
              <a:ext cx="18431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820" b="1" dirty="0">
                  <a:solidFill>
                    <a:srgbClr val="1E3A8A"/>
                  </a:solidFill>
                  <a:latin typeface="+mn-lt"/>
                  <a:ea typeface="+mn-ea"/>
                  <a:cs typeface="+mn-cs"/>
                </a:rPr>
                <a:t>14 / KESIMPULAN &amp; QA (PRD §5)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6656" y="590550"/>
              <a:ext cx="68525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Verifikasi Kualitas (29 Tests Passed) &amp; Kesimpulan Strategis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80466" y="901700"/>
              <a:ext cx="5567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Seluruh fungsionalitas tervalidasi secara otomatis melalui pengujian regresi deterministik.</a:t>
              </a:r>
            </a:p>
          </p:txBody>
        </p:sp>
      </p:grpSp>
      <p:grpSp>
        <p:nvGrpSpPr>
          <p:cNvPr id="12" name="qa-badge"/>
          <p:cNvGrpSpPr/>
          <p:nvPr/>
        </p:nvGrpSpPr>
        <p:grpSpPr>
          <a:xfrm>
            <a:off x="685800" y="1285875"/>
            <a:ext cx="10820400" cy="904875"/>
            <a:chOff x="685800" y="1285875"/>
            <a:chExt cx="10820400" cy="904875"/>
          </a:xfrm>
        </p:grpSpPr>
        <p:sp>
          <p:nvSpPr>
            <p:cNvPr id="8" name="Rectangle 8"/>
            <p:cNvSpPr/>
            <p:nvPr/>
          </p:nvSpPr>
          <p:spPr>
            <a:xfrm>
              <a:off x="685800" y="1285875"/>
              <a:ext cx="10820400" cy="904875"/>
            </a:xfrm>
            <a:prstGeom prst="roundRect">
              <a:avLst>
                <a:gd name="adj" fmla="val 8421"/>
              </a:avLst>
            </a:prstGeom>
            <a:solidFill>
              <a:srgbClr val="F0FDF4"/>
            </a:solidFill>
            <a:ln w="14288">
              <a:solidFill>
                <a:srgbClr val="86EFA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85800" y="1285875"/>
              <a:ext cx="95250" cy="904875"/>
            </a:xfrm>
            <a:prstGeom prst="roundRect">
              <a:avLst>
                <a:gd name="adj" fmla="val 4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642" y="1473200"/>
              <a:ext cx="5649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35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✔ PYTEST STATUS: 29 PASSED (100% SUCCESS RATE IN 2.06s)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547" y="1797050"/>
              <a:ext cx="71999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15803D"/>
                  </a:solidFill>
                  <a:latin typeface="+mn-lt"/>
                  <a:ea typeface="+mn-ea"/>
                  <a:cs typeface="+mn-cs"/>
                </a:rPr>
                <a:t>Rangkaian pengujian mencakup validasi skema negatif, korelasi sliding window, siklus hidup SOAR, dan skenario OT MQTT.</a:t>
              </a:r>
            </a:p>
          </p:txBody>
        </p:sp>
      </p:grpSp>
      <p:grpSp>
        <p:nvGrpSpPr>
          <p:cNvPr id="17" name="c-1"/>
          <p:cNvGrpSpPr/>
          <p:nvPr/>
        </p:nvGrpSpPr>
        <p:grpSpPr>
          <a:xfrm>
            <a:off x="685800" y="2381250"/>
            <a:ext cx="10820400" cy="809625"/>
            <a:chOff x="685800" y="2381250"/>
            <a:chExt cx="10820400" cy="809625"/>
          </a:xfrm>
        </p:grpSpPr>
        <p:sp>
          <p:nvSpPr>
            <p:cNvPr id="13" name="Rectangle 13"/>
            <p:cNvSpPr/>
            <p:nvPr/>
          </p:nvSpPr>
          <p:spPr>
            <a:xfrm>
              <a:off x="685800" y="2381250"/>
              <a:ext cx="108204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2381250"/>
              <a:ext cx="76200" cy="809625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8685" y="2527300"/>
              <a:ext cx="2431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1. Keandalan Gatekeeper Terbukti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447" y="2806700"/>
              <a:ext cx="70046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Validasi ketat kontrak skema data dan audit time drift mencegah polusi data telemetri sebelum masuk ke mesin korelasi.</a:t>
              </a:r>
            </a:p>
          </p:txBody>
        </p:sp>
      </p:grpSp>
      <p:grpSp>
        <p:nvGrpSpPr>
          <p:cNvPr id="22" name="c-2"/>
          <p:cNvGrpSpPr/>
          <p:nvPr/>
        </p:nvGrpSpPr>
        <p:grpSpPr>
          <a:xfrm>
            <a:off x="685800" y="3333750"/>
            <a:ext cx="10820400" cy="809625"/>
            <a:chOff x="685800" y="3333750"/>
            <a:chExt cx="10820400" cy="809625"/>
          </a:xfrm>
        </p:grpSpPr>
        <p:sp>
          <p:nvSpPr>
            <p:cNvPr id="18" name="Rectangle 18"/>
            <p:cNvSpPr/>
            <p:nvPr/>
          </p:nvSpPr>
          <p:spPr>
            <a:xfrm>
              <a:off x="685800" y="3333750"/>
              <a:ext cx="108204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333750"/>
              <a:ext cx="76200" cy="80962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685" y="3479800"/>
              <a:ext cx="2331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2. Deteksi Multi-Vektor Lengkap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447" y="3759200"/>
              <a:ext cx="80362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Mencakup spektrum serangan siber modern: DDoS L7, anomali identitas fisik vs remote, eksfiltrasi database, hingga sabotase fisik OT/IoT.</a:t>
              </a:r>
            </a:p>
          </p:txBody>
        </p:sp>
      </p:grpSp>
      <p:grpSp>
        <p:nvGrpSpPr>
          <p:cNvPr id="27" name="c-3"/>
          <p:cNvGrpSpPr/>
          <p:nvPr/>
        </p:nvGrpSpPr>
        <p:grpSpPr>
          <a:xfrm>
            <a:off x="685800" y="4286250"/>
            <a:ext cx="10820400" cy="809625"/>
            <a:chOff x="685800" y="4286250"/>
            <a:chExt cx="10820400" cy="809625"/>
          </a:xfrm>
        </p:grpSpPr>
        <p:sp>
          <p:nvSpPr>
            <p:cNvPr id="23" name="Rectangle 23"/>
            <p:cNvSpPr/>
            <p:nvPr/>
          </p:nvSpPr>
          <p:spPr>
            <a:xfrm>
              <a:off x="685800" y="4286250"/>
              <a:ext cx="108204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5800" y="4286250"/>
              <a:ext cx="76200" cy="80962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685" y="4432300"/>
              <a:ext cx="3503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3. SOAR Active Defense Menghentikan Serangan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447" y="4711700"/>
              <a:ext cx="87295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SOC tidak hanya pasif memantau grafik melainkan mampu melakukan Network Quarantine dan User Suspension secara real-time di level Gatekeeper.</a:t>
              </a:r>
            </a:p>
          </p:txBody>
        </p:sp>
      </p:grpSp>
      <p:grpSp>
        <p:nvGrpSpPr>
          <p:cNvPr id="32" name="c-4"/>
          <p:cNvGrpSpPr/>
          <p:nvPr/>
        </p:nvGrpSpPr>
        <p:grpSpPr>
          <a:xfrm>
            <a:off x="685800" y="5238750"/>
            <a:ext cx="10820400" cy="809625"/>
            <a:chOff x="685800" y="5238750"/>
            <a:chExt cx="10820400" cy="809625"/>
          </a:xfrm>
        </p:grpSpPr>
        <p:sp>
          <p:nvSpPr>
            <p:cNvPr id="28" name="Rectangle 28"/>
            <p:cNvSpPr/>
            <p:nvPr/>
          </p:nvSpPr>
          <p:spPr>
            <a:xfrm>
              <a:off x="685800" y="5238750"/>
              <a:ext cx="10820400" cy="809625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5800" y="5238750"/>
              <a:ext cx="76200" cy="809625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8685" y="5384800"/>
              <a:ext cx="2654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112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4. Rekomendasi Skalabilitas Produksi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447" y="5664200"/>
              <a:ext cx="91107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8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Migrasi stateful store ke Redis/Kafka untuk jutaan EPS, integrasi LLM Agent untuk playbook auto-remediation, dan ekspansi protokol OT (Modbus, BACnet).</a:t>
              </a:r>
            </a:p>
          </p:txBody>
        </p:sp>
      </p:grpSp>
      <p:grpSp>
        <p:nvGrpSpPr>
          <p:cNvPr id="35" name="footer-group"/>
          <p:cNvGrpSpPr/>
          <p:nvPr/>
        </p:nvGrpSpPr>
        <p:grpSpPr>
          <a:xfrm>
            <a:off x="681038" y="6524625"/>
            <a:ext cx="10825162" cy="242887"/>
            <a:chOff x="681038" y="6524625"/>
            <a:chExt cx="10825162" cy="242887"/>
          </a:xfrm>
        </p:grpSpPr>
        <p:sp>
          <p:nvSpPr>
            <p:cNvPr id="33" name="Line 33"/>
            <p:cNvSpPr/>
            <p:nvPr/>
          </p:nvSpPr>
          <p:spPr>
            <a:xfrm>
              <a:off x="685800" y="6524625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038" y="6591300"/>
              <a:ext cx="4569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-ID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Mini-SIEM Command Center | Tim 'JadiBegini' | Enterprise Cybersecurity Architecture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i_siem_quick">
  <a:themeElements>
    <a:clrScheme name="mini_siem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ini_siem_quick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_siem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id-ID</dc:language>
  <cp:lastModifiedBy/>
  <cp:revision>1</cp:revision>
  <dcterms:created xsi:type="dcterms:W3CDTF">2026-10-30T06:42:34Z</dcterms:created>
  <dcterms:modified xsi:type="dcterms:W3CDTF">2026-10-30T06:42:34Z</dcterms:modified>
  <cp:category/>
  <cp:contentStatus/>
</cp:coreProperties>
</file>